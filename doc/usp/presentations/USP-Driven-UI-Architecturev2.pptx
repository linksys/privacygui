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1" r:id="rId5"/>
    <p:sldId id="268" r:id="rId6"/>
    <p:sldId id="260" r:id="rId7"/>
    <p:sldId id="270" r:id="rId8"/>
    <p:sldId id="271" r:id="rId9"/>
    <p:sldId id="262" r:id="rId10"/>
    <p:sldId id="263" r:id="rId11"/>
    <p:sldId id="266" r:id="rId12"/>
    <p:sldId id="272" r:id="rId13"/>
    <p:sldId id="275" r:id="rId14"/>
    <p:sldId id="279" r:id="rId15"/>
    <p:sldId id="276" r:id="rId16"/>
    <p:sldId id="277" r:id="rId17"/>
    <p:sldId id="278" r:id="rId18"/>
  </p:sldIdLst>
  <p:sldSz cx="14630400" cy="8229600"/>
  <p:notesSz cx="8229600" cy="14630400"/>
  <p:embeddedFontLst>
    <p:embeddedFont>
      <p:font typeface="Kanit" panose="020B0604020202020204" charset="-34"/>
      <p:regular r:id="rId20"/>
    </p:embeddedFont>
    <p:embeddedFont>
      <p:font typeface="Martel Sans Light" panose="020B0604020202020204" charset="0"/>
      <p:regular r:id="rId21"/>
    </p:embeddedFont>
  </p:embeddedFontLst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27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1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hyperlink" Target="https://svgsilh.com/image/1699635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3.sv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Relationship Id="rId14" Type="http://schemas.openxmlformats.org/officeDocument/2006/relationships/image" Target="../media/image5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roadbandForum/obuspa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482221"/>
            <a:ext cx="5974318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USP-Driven UI Architecture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37724" y="4412218"/>
            <a:ext cx="746855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Technical Presentation for Architects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892254"/>
            <a:ext cx="2116455" cy="393502"/>
          </a:xfrm>
          <a:prstGeom prst="roundRect">
            <a:avLst>
              <a:gd name="adj" fmla="val 6388"/>
            </a:avLst>
          </a:prstGeom>
          <a:solidFill>
            <a:srgbClr val="4C0107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963335" y="955000"/>
            <a:ext cx="186523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TECHNICAL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37724" y="1369457"/>
            <a:ext cx="5974318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USP-Driven UI Architecture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837724" y="2069068"/>
            <a:ext cx="821233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 Standards-Based, Open Source-Friendly Approach for OpenWRT Routers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37724" y="2691170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024188"/>
            <a:ext cx="4178618" cy="228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6585" y="2716947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Design Drivers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943892" y="2665035"/>
            <a:ext cx="417861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Why this architecture?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7724" y="3047048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772" y="3024188"/>
            <a:ext cx="4178737" cy="228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56585" y="3087707"/>
            <a:ext cx="285928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USP Standard Compliance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943892" y="3050737"/>
            <a:ext cx="417873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TR-369 adherence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37723" y="3413522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940" y="3024188"/>
            <a:ext cx="4178737" cy="228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56585" y="3796725"/>
            <a:ext cx="2791301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Router-Side Components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4943892" y="3771632"/>
            <a:ext cx="417873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lighttpd, USP Bridge, Auth CGI, OBUSPA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7722" y="3777853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6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4621768"/>
            <a:ext cx="4178618" cy="228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56582" y="345590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UI-Side Architecture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4943889" y="3426976"/>
            <a:ext cx="417861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Rust client, code generation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37724" y="4153494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6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772" y="4621768"/>
            <a:ext cx="4178737" cy="228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56585" y="417671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Dual Transport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4943892" y="4154329"/>
            <a:ext cx="417873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HTTP/SSE + Turbo Channel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837721" y="4536995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06</a:t>
            </a:r>
            <a:endParaRPr lang="en-US" sz="16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940" y="4621768"/>
            <a:ext cx="4178737" cy="228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56582" y="456372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Package Isolation</a:t>
            </a:r>
            <a:endParaRPr lang="en-US" sz="1900" dirty="0"/>
          </a:p>
        </p:txBody>
      </p:sp>
      <p:sp>
        <p:nvSpPr>
          <p:cNvPr id="29" name="Text 21"/>
          <p:cNvSpPr/>
          <p:nvPr/>
        </p:nvSpPr>
        <p:spPr>
          <a:xfrm>
            <a:off x="4943892" y="4562653"/>
            <a:ext cx="417873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8 independent packages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837720" y="4920496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07</a:t>
            </a:r>
            <a:endParaRPr lang="en-US" sz="16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6219468"/>
            <a:ext cx="12954952" cy="228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256582" y="533655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Takeaways</a:t>
            </a:r>
            <a:endParaRPr lang="en-US" sz="1900" dirty="0"/>
          </a:p>
        </p:txBody>
      </p:sp>
      <p:sp>
        <p:nvSpPr>
          <p:cNvPr id="33" name="Text 24"/>
          <p:cNvSpPr/>
          <p:nvPr/>
        </p:nvSpPr>
        <p:spPr>
          <a:xfrm>
            <a:off x="4943892" y="5326499"/>
            <a:ext cx="5756379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Summary and next steps</a:t>
            </a:r>
            <a:endParaRPr lang="en-US" sz="1600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B0319663-56DC-99FA-820A-C821A377215A}"/>
              </a:ext>
            </a:extLst>
          </p:cNvPr>
          <p:cNvSpPr/>
          <p:nvPr/>
        </p:nvSpPr>
        <p:spPr>
          <a:xfrm>
            <a:off x="837724" y="5308164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C8D50E8A-BCFD-7FFF-2E53-8695A2A397A4}"/>
              </a:ext>
            </a:extLst>
          </p:cNvPr>
          <p:cNvSpPr/>
          <p:nvPr/>
        </p:nvSpPr>
        <p:spPr>
          <a:xfrm>
            <a:off x="1256585" y="4947104"/>
            <a:ext cx="285928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AI Powered Management</a:t>
            </a:r>
            <a:endParaRPr lang="en-US" sz="190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BB579CF8-4760-A4B8-5948-54D86267C042}"/>
              </a:ext>
            </a:extLst>
          </p:cNvPr>
          <p:cNvSpPr/>
          <p:nvPr/>
        </p:nvSpPr>
        <p:spPr>
          <a:xfrm>
            <a:off x="4943895" y="4937044"/>
            <a:ext cx="5756379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Dynamic calls, LLM integration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738307"/>
            <a:ext cx="1631752" cy="408742"/>
          </a:xfrm>
          <a:prstGeom prst="roundRect">
            <a:avLst>
              <a:gd name="adj" fmla="val 6149"/>
            </a:avLst>
          </a:prstGeom>
          <a:noFill/>
          <a:ln w="7620">
            <a:solidFill>
              <a:srgbClr val="FD505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955" y="858917"/>
            <a:ext cx="167521" cy="1675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2177" y="808673"/>
            <a:ext cx="1114068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37724" y="1231821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Design Drivers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837724" y="1931432"/>
            <a:ext cx="256055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Why This Architecture?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37724" y="2553533"/>
            <a:ext cx="6372701" cy="2531626"/>
          </a:xfrm>
          <a:prstGeom prst="roundRect">
            <a:avLst>
              <a:gd name="adj" fmla="val 1241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8" name="Shape 5"/>
          <p:cNvSpPr/>
          <p:nvPr/>
        </p:nvSpPr>
        <p:spPr>
          <a:xfrm>
            <a:off x="860584" y="2576393"/>
            <a:ext cx="6326981" cy="628293"/>
          </a:xfrm>
          <a:prstGeom prst="roundRect">
            <a:avLst>
              <a:gd name="adj" fmla="val 635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7031" y="2733437"/>
            <a:ext cx="314087" cy="3140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0015" y="3414117"/>
            <a:ext cx="273939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Open Source Compatible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070015" y="3847743"/>
            <a:ext cx="5908119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UI layer is replaceable; Flutter today, any framework tomorrow. Developer-friendly approach hides TR-181 complexity and works with typed abstractions.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419856" y="2553533"/>
            <a:ext cx="6372820" cy="2531626"/>
          </a:xfrm>
          <a:prstGeom prst="roundRect">
            <a:avLst>
              <a:gd name="adj" fmla="val 1241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3" name="Shape 9"/>
          <p:cNvSpPr/>
          <p:nvPr/>
        </p:nvSpPr>
        <p:spPr>
          <a:xfrm>
            <a:off x="7442716" y="2576393"/>
            <a:ext cx="6327100" cy="628293"/>
          </a:xfrm>
          <a:prstGeom prst="roundRect">
            <a:avLst>
              <a:gd name="adj" fmla="val 635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49163" y="2733437"/>
            <a:ext cx="314087" cy="3140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52147" y="3414117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OpenWRT-Oriented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7652147" y="3847743"/>
            <a:ext cx="5908238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Minimal footprint designed specifically for resource-constrained embedded devices, ensuring optimal performance.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37724" y="5294590"/>
            <a:ext cx="6372701" cy="2196584"/>
          </a:xfrm>
          <a:prstGeom prst="roundRect">
            <a:avLst>
              <a:gd name="adj" fmla="val 1430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Shape 13"/>
          <p:cNvSpPr/>
          <p:nvPr/>
        </p:nvSpPr>
        <p:spPr>
          <a:xfrm>
            <a:off x="860584" y="5317450"/>
            <a:ext cx="6326981" cy="628293"/>
          </a:xfrm>
          <a:prstGeom prst="roundRect">
            <a:avLst>
              <a:gd name="adj" fmla="val 635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7031" y="5474494"/>
            <a:ext cx="314087" cy="31408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70015" y="6155174"/>
            <a:ext cx="253710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USP Standard (TR-369)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1070015" y="6588800"/>
            <a:ext cx="5908119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 vendor lock-in; industry-standard device management protocol ensures interoperability and future-proofing.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419856" y="5294590"/>
            <a:ext cx="6372820" cy="2196584"/>
          </a:xfrm>
          <a:prstGeom prst="roundRect">
            <a:avLst>
              <a:gd name="adj" fmla="val 1430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3" name="Shape 17"/>
          <p:cNvSpPr/>
          <p:nvPr/>
        </p:nvSpPr>
        <p:spPr>
          <a:xfrm>
            <a:off x="7442716" y="5317450"/>
            <a:ext cx="6327100" cy="628293"/>
          </a:xfrm>
          <a:prstGeom prst="roundRect">
            <a:avLst>
              <a:gd name="adj" fmla="val 635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49163" y="5474494"/>
            <a:ext cx="314087" cy="31408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52147" y="615517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Turbo Channel</a:t>
            </a:r>
            <a:endParaRPr lang="en-US" sz="1900" dirty="0"/>
          </a:p>
        </p:txBody>
      </p:sp>
      <p:sp>
        <p:nvSpPr>
          <p:cNvPr id="26" name="Text 19"/>
          <p:cNvSpPr/>
          <p:nvPr/>
        </p:nvSpPr>
        <p:spPr>
          <a:xfrm>
            <a:off x="7652147" y="6588800"/>
            <a:ext cx="590823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High-bandwidth streaming capability without blocking normal operations, enabling advanced use cases.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739497"/>
            <a:ext cx="621744" cy="314920"/>
          </a:xfrm>
          <a:prstGeom prst="roundRect">
            <a:avLst>
              <a:gd name="adj" fmla="val 6385"/>
            </a:avLst>
          </a:prstGeom>
          <a:solidFill>
            <a:srgbClr val="4C0107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938213" y="789742"/>
            <a:ext cx="420767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TR-369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7724" y="1121331"/>
            <a:ext cx="6227921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USP Standard Compliance (TR-369)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37724" y="1680924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What is USP?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37724" y="2178725"/>
            <a:ext cx="1295495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User Services Platform</a:t>
            </a: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Broadband Forum TR-369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7724" y="2505313"/>
            <a:ext cx="1295495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Successor to TR-069 (CWMP)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7724" y="2831902"/>
            <a:ext cx="1295495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Protocol for device management: Get, Set, Add, Delete, Operate, Notify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7724" y="3351252"/>
            <a:ext cx="219515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Our Compliance Strategy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37724" y="3849053"/>
            <a:ext cx="4206597" cy="1286589"/>
          </a:xfrm>
          <a:prstGeom prst="roundRect">
            <a:avLst>
              <a:gd name="adj" fmla="val 1954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Text 9"/>
          <p:cNvSpPr/>
          <p:nvPr/>
        </p:nvSpPr>
        <p:spPr>
          <a:xfrm>
            <a:off x="1028105" y="4039433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Standard Wire Format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28105" y="4386382"/>
            <a:ext cx="3825835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Protobuf-encoded USP Records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1842" y="3849053"/>
            <a:ext cx="4206597" cy="1286589"/>
          </a:xfrm>
          <a:prstGeom prst="roundRect">
            <a:avLst>
              <a:gd name="adj" fmla="val 1954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4" name="Text 12"/>
          <p:cNvSpPr/>
          <p:nvPr/>
        </p:nvSpPr>
        <p:spPr>
          <a:xfrm>
            <a:off x="5402223" y="4039433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Vendor Extensions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02223" y="4386382"/>
            <a:ext cx="3825835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Architecture allows extending the data model when needed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85960" y="3849053"/>
            <a:ext cx="4206716" cy="1286589"/>
          </a:xfrm>
          <a:prstGeom prst="roundRect">
            <a:avLst>
              <a:gd name="adj" fmla="val 1954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9776341" y="4039433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UDS MTP (Primary)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776341" y="4386382"/>
            <a:ext cx="3825954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Unix Domain Socket for USP Bridge </a:t>
            </a:r>
            <a:r>
              <a:rPr lang="en-US" sz="1300" dirty="0">
                <a:solidFill>
                  <a:schemeClr val="bg1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↔ </a:t>
            </a: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OBUSPA communication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7724" y="5303163"/>
            <a:ext cx="6393656" cy="1286589"/>
          </a:xfrm>
          <a:prstGeom prst="roundRect">
            <a:avLst>
              <a:gd name="adj" fmla="val 1954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0" name="Text 18"/>
          <p:cNvSpPr/>
          <p:nvPr/>
        </p:nvSpPr>
        <p:spPr>
          <a:xfrm>
            <a:off x="1028105" y="5493544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WebSocket MTP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28105" y="5840492"/>
            <a:ext cx="6012894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UI</a:t>
            </a:r>
            <a:r>
              <a:rPr lang="en-US" sz="1300" dirty="0">
                <a:solidFill>
                  <a:schemeClr val="bg1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↔ </a:t>
            </a: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lighttpd (wstunnel proxy)</a:t>
            </a:r>
            <a:r>
              <a:rPr lang="en-US" sz="1300" dirty="0">
                <a:solidFill>
                  <a:schemeClr val="bg1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↔ </a:t>
            </a: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OBUSPA (:8443 localhost) for high-bandwidth streaming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98901" y="5303163"/>
            <a:ext cx="6393775" cy="1286589"/>
          </a:xfrm>
          <a:prstGeom prst="roundRect">
            <a:avLst>
              <a:gd name="adj" fmla="val 1954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3" name="Text 21"/>
          <p:cNvSpPr/>
          <p:nvPr/>
        </p:nvSpPr>
        <p:spPr>
          <a:xfrm>
            <a:off x="7589282" y="5493544"/>
            <a:ext cx="205132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Standard Subscriptions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589282" y="5840492"/>
            <a:ext cx="601301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TimeToLive, NotifType, ReferenceList per spec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7724" y="6778228"/>
            <a:ext cx="12954952" cy="711756"/>
          </a:xfrm>
          <a:prstGeom prst="roundRect">
            <a:avLst>
              <a:gd name="adj" fmla="val 3531"/>
            </a:avLst>
          </a:prstGeom>
          <a:solidFill>
            <a:srgbClr val="4C0107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245" y="7008495"/>
            <a:ext cx="209431" cy="167521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82197" y="6987540"/>
            <a:ext cx="12242959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Result:</a:t>
            </a:r>
            <a:r>
              <a:rPr lang="en-US" sz="13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Any USP-compliant agent (not just OBUSPA) can be used.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690443"/>
            <a:ext cx="1741765" cy="330160"/>
          </a:xfrm>
          <a:prstGeom prst="roundRect">
            <a:avLst>
              <a:gd name="adj" fmla="val 6090"/>
            </a:avLst>
          </a:prstGeom>
          <a:noFill/>
          <a:ln w="7620">
            <a:solidFill>
              <a:srgbClr val="FD505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945833" y="748308"/>
            <a:ext cx="1525548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CLIENT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7724" y="1087517"/>
            <a:ext cx="3942636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UI-Side Architecture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837724" y="6827400"/>
            <a:ext cx="12954952" cy="1248663"/>
          </a:xfrm>
          <a:prstGeom prst="roundRect">
            <a:avLst>
              <a:gd name="adj" fmla="val 3531"/>
            </a:avLst>
          </a:prstGeom>
          <a:solidFill>
            <a:srgbClr val="4C0107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245" y="7057668"/>
            <a:ext cx="209431" cy="1675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2197" y="7036713"/>
            <a:ext cx="12242959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Design Goals:</a:t>
            </a:r>
            <a:r>
              <a:rPr lang="en-US" sz="13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</a:t>
            </a:r>
          </a:p>
          <a:p>
            <a:pPr marL="285750" indent="-285750" algn="l">
              <a:lnSpc>
                <a:spcPts val="2100"/>
              </a:lnSpc>
              <a:buFontTx/>
              <a:buChar char="-"/>
            </a:pPr>
            <a:r>
              <a:rPr lang="en-US" sz="13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Developers never work with TR-181 paths or protobuf directly. </a:t>
            </a:r>
          </a:p>
          <a:p>
            <a:pPr marL="285750" indent="-285750" algn="l">
              <a:lnSpc>
                <a:spcPts val="2100"/>
              </a:lnSpc>
              <a:buFontTx/>
              <a:buChar char="-"/>
            </a:pPr>
            <a:r>
              <a:rPr lang="en-US" sz="13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UI can be replaced with another language if needed without losing the USP connectivity.</a:t>
            </a:r>
            <a:endParaRPr lang="en-US" sz="13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FEC8A2-1830-AD2D-248E-AE209ACD895D}"/>
              </a:ext>
            </a:extLst>
          </p:cNvPr>
          <p:cNvSpPr/>
          <p:nvPr/>
        </p:nvSpPr>
        <p:spPr>
          <a:xfrm>
            <a:off x="4365026" y="1927205"/>
            <a:ext cx="5700713" cy="98583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Application Layer</a:t>
            </a:r>
          </a:p>
          <a:p>
            <a:pPr algn="ctr"/>
            <a:r>
              <a:rPr lang="fr-FR" dirty="0"/>
              <a:t>(UI screens, business </a:t>
            </a:r>
            <a:r>
              <a:rPr lang="fr-FR" dirty="0" err="1"/>
              <a:t>logic</a:t>
            </a:r>
            <a:r>
              <a:rPr lang="fr-FR" dirty="0"/>
              <a:t>, state management)</a:t>
            </a:r>
            <a:endParaRPr lang="en-1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25BA31-EB9F-6DDD-53F9-F68F68D4A728}"/>
              </a:ext>
            </a:extLst>
          </p:cNvPr>
          <p:cNvSpPr/>
          <p:nvPr/>
        </p:nvSpPr>
        <p:spPr>
          <a:xfrm>
            <a:off x="4365026" y="3443376"/>
            <a:ext cx="5700713" cy="98583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Definition</a:t>
            </a:r>
            <a:r>
              <a:rPr lang="fr-FR" dirty="0"/>
              <a:t> Driven Layer</a:t>
            </a:r>
          </a:p>
          <a:p>
            <a:pPr algn="ctr"/>
            <a:r>
              <a:rPr lang="fr-FR" dirty="0"/>
              <a:t>(</a:t>
            </a:r>
            <a:r>
              <a:rPr lang="fr-FR" dirty="0" err="1"/>
              <a:t>generated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YAML files)</a:t>
            </a:r>
            <a:endParaRPr lang="en-1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10A28-8129-AB72-4734-1AF16181C160}"/>
              </a:ext>
            </a:extLst>
          </p:cNvPr>
          <p:cNvSpPr/>
          <p:nvPr/>
        </p:nvSpPr>
        <p:spPr>
          <a:xfrm>
            <a:off x="4356690" y="5494555"/>
            <a:ext cx="5700713" cy="98583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USP client Layer (Rust)</a:t>
            </a:r>
          </a:p>
          <a:p>
            <a:pPr algn="ctr"/>
            <a:r>
              <a:rPr lang="fr-FR" dirty="0" err="1"/>
              <a:t>Protobug</a:t>
            </a:r>
            <a:r>
              <a:rPr lang="fr-FR" dirty="0"/>
              <a:t> </a:t>
            </a:r>
            <a:r>
              <a:rPr lang="fr-FR" dirty="0" err="1"/>
              <a:t>encoding</a:t>
            </a:r>
            <a:r>
              <a:rPr lang="fr-FR" dirty="0"/>
              <a:t> | HTTP/SSE | </a:t>
            </a:r>
            <a:r>
              <a:rPr lang="fr-FR" dirty="0" err="1"/>
              <a:t>WebSocket</a:t>
            </a:r>
            <a:r>
              <a:rPr lang="fr-FR" dirty="0"/>
              <a:t> | JWT </a:t>
            </a:r>
            <a:r>
              <a:rPr lang="fr-FR" dirty="0" err="1"/>
              <a:t>refresh</a:t>
            </a:r>
            <a:endParaRPr lang="en-15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8E5F1D-BCA7-2CC3-9778-A2A236419DE4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7215383" y="2913043"/>
            <a:ext cx="0" cy="53033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AB973F4-7FCA-4A84-F03A-DE4EAC75242B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07047" y="4699199"/>
            <a:ext cx="4168" cy="79535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E289D7B-CE85-13AA-B044-AEAEBD841659}"/>
              </a:ext>
            </a:extLst>
          </p:cNvPr>
          <p:cNvSpPr/>
          <p:nvPr/>
        </p:nvSpPr>
        <p:spPr>
          <a:xfrm>
            <a:off x="11086192" y="3443376"/>
            <a:ext cx="2850357" cy="98583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usp-codegen</a:t>
            </a:r>
            <a:r>
              <a:rPr lang="fr-FR" dirty="0"/>
              <a:t> </a:t>
            </a:r>
            <a:endParaRPr lang="en-1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AFA8D4-B99C-7D73-2BEB-4C069EA66A1F}"/>
              </a:ext>
            </a:extLst>
          </p:cNvPr>
          <p:cNvSpPr/>
          <p:nvPr/>
        </p:nvSpPr>
        <p:spPr>
          <a:xfrm>
            <a:off x="11086193" y="1927205"/>
            <a:ext cx="2850357" cy="98583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Definition</a:t>
            </a:r>
            <a:r>
              <a:rPr lang="fr-FR" dirty="0"/>
              <a:t> files</a:t>
            </a:r>
          </a:p>
          <a:p>
            <a:pPr algn="ctr"/>
            <a:r>
              <a:rPr lang="fr-FR" dirty="0"/>
              <a:t>(YAML files)</a:t>
            </a:r>
            <a:endParaRPr lang="en-15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C57E3B-3241-05B2-859D-317B66812576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flipH="1">
            <a:off x="12511371" y="2913043"/>
            <a:ext cx="1" cy="53033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FB9B7E9-E623-1048-975D-4E6E82E037FE}"/>
              </a:ext>
            </a:extLst>
          </p:cNvPr>
          <p:cNvCxnSpPr>
            <a:cxnSpLocks/>
            <a:stCxn id="5" idx="1"/>
            <a:endCxn id="12" idx="3"/>
          </p:cNvCxnSpPr>
          <p:nvPr/>
        </p:nvCxnSpPr>
        <p:spPr>
          <a:xfrm flipH="1">
            <a:off x="10065739" y="3936295"/>
            <a:ext cx="1020453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93ED931-2EB0-B0FC-4E95-3C2D4451D698}"/>
              </a:ext>
            </a:extLst>
          </p:cNvPr>
          <p:cNvSpPr/>
          <p:nvPr/>
        </p:nvSpPr>
        <p:spPr>
          <a:xfrm>
            <a:off x="4365026" y="4431694"/>
            <a:ext cx="5692377" cy="26750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usp</a:t>
            </a:r>
            <a:r>
              <a:rPr lang="fr-FR" dirty="0"/>
              <a:t>-client plugins</a:t>
            </a:r>
            <a:endParaRPr lang="en-1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55D4CC-A4EB-E698-1DC5-AE97F2408265}"/>
              </a:ext>
            </a:extLst>
          </p:cNvPr>
          <p:cNvSpPr/>
          <p:nvPr/>
        </p:nvSpPr>
        <p:spPr>
          <a:xfrm>
            <a:off x="11086194" y="4959547"/>
            <a:ext cx="2850356" cy="5590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usp</a:t>
            </a:r>
            <a:r>
              <a:rPr lang="fr-FR" dirty="0"/>
              <a:t>-client plugins</a:t>
            </a:r>
            <a:endParaRPr lang="en-15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E3433B-4C7D-BA4A-420F-BDB45BDF7DF7}"/>
              </a:ext>
            </a:extLst>
          </p:cNvPr>
          <p:cNvCxnSpPr>
            <a:cxnSpLocks/>
            <a:stCxn id="38" idx="0"/>
            <a:endCxn id="5" idx="2"/>
          </p:cNvCxnSpPr>
          <p:nvPr/>
        </p:nvCxnSpPr>
        <p:spPr>
          <a:xfrm flipH="1" flipV="1">
            <a:off x="12511371" y="4429214"/>
            <a:ext cx="1" cy="53033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699849"/>
            <a:ext cx="877610" cy="271224"/>
          </a:xfrm>
          <a:prstGeom prst="roundRect">
            <a:avLst>
              <a:gd name="adj" fmla="val 6024"/>
            </a:avLst>
          </a:prstGeom>
          <a:noFill/>
          <a:ln w="7620">
            <a:solidFill>
              <a:srgbClr val="FD505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927021" y="748308"/>
            <a:ext cx="699016" cy="174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FRAMEWORK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7724" y="1025485"/>
            <a:ext cx="3710107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usp-client Framework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37724" y="1480304"/>
            <a:ext cx="3122890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Not Just a Library — A Complete Framework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37724" y="2020729"/>
            <a:ext cx="1601629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Core Components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7724" y="2356961"/>
            <a:ext cx="6311384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usp-codegen:</a:t>
            </a: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YAML → Code definitions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7724" y="2622233"/>
            <a:ext cx="6311384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Language Plugins:</a:t>
            </a: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Dart FFI, TypeScript WASM, Swift FFI, and more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7724" y="2887504"/>
            <a:ext cx="6311384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usp-client Core (Rust):</a:t>
            </a: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Protobuf encoding, HTTP/SSE, WebSocket, JWT management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5222" y="4392454"/>
            <a:ext cx="1601629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Framework Benefits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5222" y="4728686"/>
            <a:ext cx="6311384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Today:</a:t>
            </a: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Dart plugin for Flutter provides complete integration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5222" y="5068848"/>
            <a:ext cx="6311384" cy="43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Tomorrow:</a:t>
            </a: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TypeScript, Swift, or any other language — the framework architecture supports extensibility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5BE0955-0CAA-981C-5F16-C95D55BC7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882" y="386237"/>
            <a:ext cx="6488655" cy="74080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9270" y="570190"/>
            <a:ext cx="1376243" cy="307419"/>
          </a:xfrm>
          <a:prstGeom prst="roundRect">
            <a:avLst>
              <a:gd name="adj" fmla="val 6070"/>
            </a:avLst>
          </a:prstGeom>
          <a:noFill/>
          <a:ln w="7620">
            <a:solidFill>
              <a:srgbClr val="FD505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930116" y="624364"/>
            <a:ext cx="1174552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CODE GENERATION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9270" y="939760"/>
            <a:ext cx="5122545" cy="4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Definition-Driven Development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29270" y="1785818"/>
            <a:ext cx="2025134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YAML Definition Example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9270" y="2189440"/>
            <a:ext cx="6296263" cy="4212669"/>
          </a:xfrm>
          <a:prstGeom prst="roundRect">
            <a:avLst>
              <a:gd name="adj" fmla="val 554"/>
            </a:avLst>
          </a:prstGeom>
          <a:solidFill>
            <a:srgbClr val="1D1942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7" name="Shape 5"/>
          <p:cNvSpPr/>
          <p:nvPr/>
        </p:nvSpPr>
        <p:spPr>
          <a:xfrm>
            <a:off x="821531" y="2189440"/>
            <a:ext cx="6311741" cy="4212669"/>
          </a:xfrm>
          <a:prstGeom prst="roundRect">
            <a:avLst>
              <a:gd name="adj" fmla="val 554"/>
            </a:avLst>
          </a:prstGeom>
          <a:solidFill>
            <a:srgbClr val="1D1942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8" name="Text 6"/>
          <p:cNvSpPr/>
          <p:nvPr/>
        </p:nvSpPr>
        <p:spPr>
          <a:xfrm>
            <a:off x="977027" y="2306003"/>
            <a:ext cx="6000750" cy="397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dirty="0" err="1">
                <a:solidFill>
                  <a:schemeClr val="bg1"/>
                </a:solidFill>
                <a:highlight>
                  <a:srgbClr val="1D1942"/>
                </a:highlight>
              </a:rPr>
              <a:t>name</a:t>
            </a:r>
            <a:r>
              <a:rPr lang="fr-FR" dirty="0">
                <a:solidFill>
                  <a:schemeClr val="bg1"/>
                </a:solidFill>
                <a:highlight>
                  <a:srgbClr val="1D1942"/>
                </a:highlight>
              </a:rPr>
              <a:t>: </a:t>
            </a:r>
            <a:r>
              <a:rPr lang="fr-FR" dirty="0" err="1">
                <a:solidFill>
                  <a:schemeClr val="bg1"/>
                </a:solidFill>
                <a:highlight>
                  <a:srgbClr val="1D1942"/>
                </a:highlight>
              </a:rPr>
              <a:t>hardwareInfo</a:t>
            </a:r>
            <a:endParaRPr lang="fr-FR" dirty="0">
              <a:solidFill>
                <a:schemeClr val="bg1"/>
              </a:solidFill>
              <a:highlight>
                <a:srgbClr val="1D1942"/>
              </a:highlight>
            </a:endParaRPr>
          </a:p>
          <a:p>
            <a:r>
              <a:rPr lang="fr-FR" dirty="0">
                <a:solidFill>
                  <a:schemeClr val="bg1"/>
                </a:solidFill>
                <a:highlight>
                  <a:srgbClr val="1D1942"/>
                </a:highlight>
              </a:rPr>
              <a:t>description: Basic hardware identification</a:t>
            </a:r>
          </a:p>
          <a:p>
            <a:r>
              <a:rPr lang="fr-FR" dirty="0">
                <a:solidFill>
                  <a:schemeClr val="bg1"/>
                </a:solidFill>
                <a:highlight>
                  <a:srgbClr val="1D1942"/>
                </a:highlight>
              </a:rPr>
              <a:t>type: </a:t>
            </a:r>
            <a:r>
              <a:rPr lang="fr-FR" dirty="0" err="1">
                <a:solidFill>
                  <a:schemeClr val="bg1"/>
                </a:solidFill>
                <a:highlight>
                  <a:srgbClr val="1D1942"/>
                </a:highlight>
              </a:rPr>
              <a:t>get</a:t>
            </a:r>
            <a:endParaRPr lang="fr-FR" dirty="0">
              <a:solidFill>
                <a:schemeClr val="bg1"/>
              </a:solidFill>
              <a:highlight>
                <a:srgbClr val="1D1942"/>
              </a:highlight>
            </a:endParaRPr>
          </a:p>
          <a:p>
            <a:endParaRPr lang="fr-FR" dirty="0">
              <a:solidFill>
                <a:schemeClr val="bg1"/>
              </a:solidFill>
              <a:highlight>
                <a:srgbClr val="1D1942"/>
              </a:highlight>
            </a:endParaRPr>
          </a:p>
          <a:p>
            <a:r>
              <a:rPr lang="fr-FR" dirty="0" err="1">
                <a:solidFill>
                  <a:schemeClr val="bg1"/>
                </a:solidFill>
                <a:highlight>
                  <a:srgbClr val="1D1942"/>
                </a:highlight>
              </a:rPr>
              <a:t>parameters</a:t>
            </a:r>
            <a:r>
              <a:rPr lang="fr-FR" dirty="0">
                <a:solidFill>
                  <a:schemeClr val="bg1"/>
                </a:solidFill>
                <a:highlight>
                  <a:srgbClr val="1D1942"/>
                </a:highlight>
              </a:rPr>
              <a:t>:</a:t>
            </a:r>
          </a:p>
          <a:p>
            <a:r>
              <a:rPr lang="fr-FR" dirty="0">
                <a:solidFill>
                  <a:schemeClr val="bg1"/>
                </a:solidFill>
                <a:highlight>
                  <a:srgbClr val="1D1942"/>
                </a:highlight>
              </a:rPr>
              <a:t>  - </a:t>
            </a:r>
            <a:r>
              <a:rPr lang="fr-FR" dirty="0" err="1">
                <a:solidFill>
                  <a:schemeClr val="bg1"/>
                </a:solidFill>
                <a:highlight>
                  <a:srgbClr val="1D1942"/>
                </a:highlight>
              </a:rPr>
              <a:t>path</a:t>
            </a:r>
            <a:r>
              <a:rPr lang="fr-FR" dirty="0">
                <a:solidFill>
                  <a:schemeClr val="bg1"/>
                </a:solidFill>
                <a:highlight>
                  <a:srgbClr val="1D1942"/>
                </a:highlight>
              </a:rPr>
              <a:t>: </a:t>
            </a:r>
            <a:r>
              <a:rPr lang="fr-FR" dirty="0" err="1">
                <a:solidFill>
                  <a:schemeClr val="bg1"/>
                </a:solidFill>
                <a:highlight>
                  <a:srgbClr val="1D1942"/>
                </a:highlight>
              </a:rPr>
              <a:t>Device.DeviceInfo.ModelName</a:t>
            </a:r>
            <a:endParaRPr lang="fr-FR" dirty="0">
              <a:solidFill>
                <a:schemeClr val="bg1"/>
              </a:solidFill>
              <a:highlight>
                <a:srgbClr val="1D1942"/>
              </a:highlight>
            </a:endParaRPr>
          </a:p>
          <a:p>
            <a:r>
              <a:rPr lang="fr-FR" dirty="0">
                <a:solidFill>
                  <a:schemeClr val="bg1"/>
                </a:solidFill>
                <a:highlight>
                  <a:srgbClr val="1D1942"/>
                </a:highlight>
              </a:rPr>
              <a:t>    </a:t>
            </a:r>
            <a:r>
              <a:rPr lang="fr-FR" dirty="0" err="1">
                <a:solidFill>
                  <a:schemeClr val="bg1"/>
                </a:solidFill>
                <a:highlight>
                  <a:srgbClr val="1D1942"/>
                </a:highlight>
              </a:rPr>
              <a:t>field</a:t>
            </a:r>
            <a:r>
              <a:rPr lang="fr-FR" dirty="0">
                <a:solidFill>
                  <a:schemeClr val="bg1"/>
                </a:solidFill>
                <a:highlight>
                  <a:srgbClr val="1D1942"/>
                </a:highlight>
              </a:rPr>
              <a:t>: </a:t>
            </a:r>
            <a:r>
              <a:rPr lang="fr-FR" dirty="0" err="1">
                <a:solidFill>
                  <a:schemeClr val="bg1"/>
                </a:solidFill>
                <a:highlight>
                  <a:srgbClr val="1D1942"/>
                </a:highlight>
              </a:rPr>
              <a:t>modelName</a:t>
            </a:r>
            <a:endParaRPr lang="fr-FR" dirty="0">
              <a:solidFill>
                <a:schemeClr val="bg1"/>
              </a:solidFill>
              <a:highlight>
                <a:srgbClr val="1D1942"/>
              </a:highlight>
            </a:endParaRPr>
          </a:p>
          <a:p>
            <a:r>
              <a:rPr lang="fr-FR" dirty="0">
                <a:solidFill>
                  <a:schemeClr val="bg1"/>
                </a:solidFill>
                <a:highlight>
                  <a:srgbClr val="1D1942"/>
                </a:highlight>
              </a:rPr>
              <a:t>    type: string</a:t>
            </a:r>
          </a:p>
          <a:p>
            <a:endParaRPr lang="fr-FR" dirty="0">
              <a:solidFill>
                <a:schemeClr val="bg1"/>
              </a:solidFill>
              <a:highlight>
                <a:srgbClr val="1D1942"/>
              </a:highlight>
            </a:endParaRPr>
          </a:p>
          <a:p>
            <a:r>
              <a:rPr lang="fr-FR" dirty="0">
                <a:solidFill>
                  <a:schemeClr val="bg1"/>
                </a:solidFill>
                <a:highlight>
                  <a:srgbClr val="1D1942"/>
                </a:highlight>
              </a:rPr>
              <a:t>  - </a:t>
            </a:r>
            <a:r>
              <a:rPr lang="fr-FR" dirty="0" err="1">
                <a:solidFill>
                  <a:schemeClr val="bg1"/>
                </a:solidFill>
                <a:highlight>
                  <a:srgbClr val="1D1942"/>
                </a:highlight>
              </a:rPr>
              <a:t>path</a:t>
            </a:r>
            <a:r>
              <a:rPr lang="fr-FR" dirty="0">
                <a:solidFill>
                  <a:schemeClr val="bg1"/>
                </a:solidFill>
                <a:highlight>
                  <a:srgbClr val="1D1942"/>
                </a:highlight>
              </a:rPr>
              <a:t>: </a:t>
            </a:r>
            <a:r>
              <a:rPr lang="fr-FR" dirty="0" err="1">
                <a:solidFill>
                  <a:schemeClr val="bg1"/>
                </a:solidFill>
                <a:highlight>
                  <a:srgbClr val="1D1942"/>
                </a:highlight>
              </a:rPr>
              <a:t>Device.DeviceInfo.ModelNumber</a:t>
            </a:r>
            <a:endParaRPr lang="fr-FR" dirty="0">
              <a:solidFill>
                <a:schemeClr val="bg1"/>
              </a:solidFill>
              <a:highlight>
                <a:srgbClr val="1D1942"/>
              </a:highlight>
            </a:endParaRPr>
          </a:p>
          <a:p>
            <a:r>
              <a:rPr lang="fr-FR" dirty="0">
                <a:solidFill>
                  <a:schemeClr val="bg1"/>
                </a:solidFill>
                <a:highlight>
                  <a:srgbClr val="1D1942"/>
                </a:highlight>
              </a:rPr>
              <a:t>    </a:t>
            </a:r>
            <a:r>
              <a:rPr lang="fr-FR" dirty="0" err="1">
                <a:solidFill>
                  <a:schemeClr val="bg1"/>
                </a:solidFill>
                <a:highlight>
                  <a:srgbClr val="1D1942"/>
                </a:highlight>
              </a:rPr>
              <a:t>field</a:t>
            </a:r>
            <a:r>
              <a:rPr lang="fr-FR" dirty="0">
                <a:solidFill>
                  <a:schemeClr val="bg1"/>
                </a:solidFill>
                <a:highlight>
                  <a:srgbClr val="1D1942"/>
                </a:highlight>
              </a:rPr>
              <a:t>: </a:t>
            </a:r>
            <a:r>
              <a:rPr lang="fr-FR" dirty="0" err="1">
                <a:solidFill>
                  <a:schemeClr val="bg1"/>
                </a:solidFill>
                <a:highlight>
                  <a:srgbClr val="1D1942"/>
                </a:highlight>
              </a:rPr>
              <a:t>modelNumber</a:t>
            </a:r>
            <a:endParaRPr lang="fr-FR" dirty="0">
              <a:solidFill>
                <a:schemeClr val="bg1"/>
              </a:solidFill>
              <a:highlight>
                <a:srgbClr val="1D1942"/>
              </a:highlight>
            </a:endParaRPr>
          </a:p>
          <a:p>
            <a:r>
              <a:rPr lang="fr-FR" dirty="0">
                <a:solidFill>
                  <a:schemeClr val="bg1"/>
                </a:solidFill>
                <a:highlight>
                  <a:srgbClr val="1D1942"/>
                </a:highlight>
              </a:rPr>
              <a:t>    type: string</a:t>
            </a:r>
          </a:p>
          <a:p>
            <a:pPr marL="0" indent="0" algn="l">
              <a:lnSpc>
                <a:spcPts val="1950"/>
              </a:lnSpc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512487" y="1785818"/>
            <a:ext cx="1829514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Generated Dart Code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12487" y="2189440"/>
            <a:ext cx="6296263" cy="4212669"/>
          </a:xfrm>
          <a:prstGeom prst="roundRect">
            <a:avLst>
              <a:gd name="adj" fmla="val 554"/>
            </a:avLst>
          </a:prstGeom>
          <a:solidFill>
            <a:srgbClr val="1D1942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1" name="Shape 9"/>
          <p:cNvSpPr/>
          <p:nvPr/>
        </p:nvSpPr>
        <p:spPr>
          <a:xfrm>
            <a:off x="7504748" y="2189440"/>
            <a:ext cx="6311741" cy="4212669"/>
          </a:xfrm>
          <a:prstGeom prst="roundRect">
            <a:avLst>
              <a:gd name="adj" fmla="val 554"/>
            </a:avLst>
          </a:prstGeom>
          <a:solidFill>
            <a:srgbClr val="1D1942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2" name="Text 10"/>
          <p:cNvSpPr/>
          <p:nvPr/>
        </p:nvSpPr>
        <p:spPr>
          <a:xfrm>
            <a:off x="7660243" y="2306003"/>
            <a:ext cx="6000750" cy="397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class HardwareInfo {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final String modelName;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final String serialNumber;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static Future&lt;HardwareInfo&gt; fetch(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UspClient client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) async {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final response = await client.get([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'Device.DeviceInfo.ModelName',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'Device.DeviceInfo.SerialNumber',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]);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return HardwareInfo._fromResponse(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response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);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9270" y="6751915"/>
            <a:ext cx="12971859" cy="909399"/>
          </a:xfrm>
          <a:prstGeom prst="roundRect">
            <a:avLst>
              <a:gd name="adj" fmla="val 2565"/>
            </a:avLst>
          </a:prstGeom>
          <a:solidFill>
            <a:srgbClr val="4C0107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66" y="6962537"/>
            <a:ext cx="194310" cy="1554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34572" y="6946225"/>
            <a:ext cx="12311063" cy="497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Benefit:</a:t>
            </a:r>
            <a:r>
              <a:rPr lang="en-US" sz="12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API layer is defined declaratively in YAML — no manual protobuf or TR-181 path handling. JSON definitions can be created by AI or non-experts; UI development focuses purely on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544360"/>
            <a:ext cx="1273969" cy="393502"/>
          </a:xfrm>
          <a:prstGeom prst="roundRect">
            <a:avLst>
              <a:gd name="adj" fmla="val 6388"/>
            </a:avLst>
          </a:prstGeom>
          <a:solidFill>
            <a:srgbClr val="4C0107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335" y="1657350"/>
            <a:ext cx="167521" cy="1675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4557" y="1607106"/>
            <a:ext cx="771525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BENEFITS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37724" y="2030254"/>
            <a:ext cx="5612606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Code Generation Benefits</a:t>
            </a:r>
            <a:endParaRPr lang="en-US" sz="3850" dirty="0"/>
          </a:p>
        </p:txBody>
      </p:sp>
      <p:sp>
        <p:nvSpPr>
          <p:cNvPr id="6" name="Shape 3"/>
          <p:cNvSpPr/>
          <p:nvPr/>
        </p:nvSpPr>
        <p:spPr>
          <a:xfrm>
            <a:off x="837724" y="2960251"/>
            <a:ext cx="4178618" cy="3724989"/>
          </a:xfrm>
          <a:prstGeom prst="roundRect">
            <a:avLst>
              <a:gd name="adj" fmla="val 2946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864" y="2960251"/>
            <a:ext cx="91440" cy="37249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8595" y="319254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Security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138595" y="3626168"/>
            <a:ext cx="364545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TR-181 paths baked into compiled binary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38595" y="4369475"/>
            <a:ext cx="364545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 runtime YAML files that attackers could modify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38595" y="5112782"/>
            <a:ext cx="364545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Behavior is immutable without replacing signed binary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225772" y="2960251"/>
            <a:ext cx="4178737" cy="3724989"/>
          </a:xfrm>
          <a:prstGeom prst="roundRect">
            <a:avLst>
              <a:gd name="adj" fmla="val 2946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2912" y="2960251"/>
            <a:ext cx="91440" cy="372498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26643" y="319254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Developer Experience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5526643" y="3626168"/>
            <a:ext cx="364557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Type safety:</a:t>
            </a: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Compile-time checking, IDE autocomplete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526643" y="4369475"/>
            <a:ext cx="3645575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 TR-181 knowledge required:</a:t>
            </a: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Call WifiSettings.fetch(), not Device.WiFi.SSID.1.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526643" y="5447824"/>
            <a:ext cx="3645575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Multi-language:</a:t>
            </a: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Same YAML definitions generate Dart, TypeScript, etc.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9613940" y="2960251"/>
            <a:ext cx="4178737" cy="3724989"/>
          </a:xfrm>
          <a:prstGeom prst="roundRect">
            <a:avLst>
              <a:gd name="adj" fmla="val 2946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1080" y="2960251"/>
            <a:ext cx="91440" cy="372498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914811" y="319254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Build Integration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9914811" y="3736181"/>
            <a:ext cx="3645575" cy="1654254"/>
          </a:xfrm>
          <a:prstGeom prst="roundRect">
            <a:avLst>
              <a:gd name="adj" fmla="val 1899"/>
            </a:avLst>
          </a:prstGeom>
          <a:solidFill>
            <a:srgbClr val="1D1942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2" name="Shape 16"/>
          <p:cNvSpPr/>
          <p:nvPr/>
        </p:nvSpPr>
        <p:spPr>
          <a:xfrm>
            <a:off x="9904452" y="3736181"/>
            <a:ext cx="3666292" cy="1654254"/>
          </a:xfrm>
          <a:prstGeom prst="roundRect">
            <a:avLst>
              <a:gd name="adj" fmla="val 1899"/>
            </a:avLst>
          </a:prstGeom>
          <a:solidFill>
            <a:srgbClr val="1D1942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3" name="Text 17"/>
          <p:cNvSpPr/>
          <p:nvPr/>
        </p:nvSpPr>
        <p:spPr>
          <a:xfrm>
            <a:off x="10113883" y="3893225"/>
            <a:ext cx="3247430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# Generate API classes from definitions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flutter pub run build_runner build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914811" y="5626060"/>
            <a:ext cx="364557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Output:</a:t>
            </a: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lib/api/generated/core.dart, lib/api/generated/extensions.dart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754499"/>
            <a:ext cx="1073468" cy="310396"/>
          </a:xfrm>
          <a:prstGeom prst="roundRect">
            <a:avLst>
              <a:gd name="adj" fmla="val 6073"/>
            </a:avLst>
          </a:prstGeom>
          <a:noFill/>
          <a:ln w="7620">
            <a:solidFill>
              <a:srgbClr val="FD505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522" y="846892"/>
            <a:ext cx="125611" cy="1256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7879" y="809149"/>
            <a:ext cx="681514" cy="201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EMBEDDED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37724" y="1127641"/>
            <a:ext cx="4461867" cy="4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OpenWRT-Oriented Design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837724" y="1652468"/>
            <a:ext cx="214443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Constraints We Design For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37724" y="2119074"/>
            <a:ext cx="6398895" cy="890468"/>
          </a:xfrm>
          <a:prstGeom prst="roundRect">
            <a:avLst>
              <a:gd name="adj" fmla="val 2646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8" name="Text 5"/>
          <p:cNvSpPr/>
          <p:nvPr/>
        </p:nvSpPr>
        <p:spPr>
          <a:xfrm>
            <a:off x="994767" y="2276118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Limited RAM/Flash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94767" y="2601278"/>
            <a:ext cx="6084808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Minimal daemon footprint optimized for embedded devices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93662" y="2119074"/>
            <a:ext cx="6399014" cy="890468"/>
          </a:xfrm>
          <a:prstGeom prst="roundRect">
            <a:avLst>
              <a:gd name="adj" fmla="val 2646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1" name="Text 8"/>
          <p:cNvSpPr/>
          <p:nvPr/>
        </p:nvSpPr>
        <p:spPr>
          <a:xfrm>
            <a:off x="7550706" y="2276118"/>
            <a:ext cx="202977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Protobuf Offloaded to UI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50706" y="2601278"/>
            <a:ext cx="608492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USP Bridge is a thin proxy (~50KB); all protobuf encoding done by usp-client (Rust)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37724" y="3166586"/>
            <a:ext cx="6398895" cy="890468"/>
          </a:xfrm>
          <a:prstGeom prst="roundRect">
            <a:avLst>
              <a:gd name="adj" fmla="val 2646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4" name="Text 11"/>
          <p:cNvSpPr/>
          <p:nvPr/>
        </p:nvSpPr>
        <p:spPr>
          <a:xfrm>
            <a:off x="994767" y="3323630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No Persistent State / stateless components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94767" y="3648789"/>
            <a:ext cx="6084808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OBUSPA is source of truth; bridge maintains no state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93662" y="3166586"/>
            <a:ext cx="6399014" cy="890468"/>
          </a:xfrm>
          <a:prstGeom prst="roundRect">
            <a:avLst>
              <a:gd name="adj" fmla="val 2646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7" name="Text 14"/>
          <p:cNvSpPr/>
          <p:nvPr/>
        </p:nvSpPr>
        <p:spPr>
          <a:xfrm>
            <a:off x="7550706" y="3323630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UCI Configuration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550706" y="3648789"/>
            <a:ext cx="608492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Standard OpenWRT config files for system integration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37724" y="4214098"/>
            <a:ext cx="6398895" cy="890468"/>
          </a:xfrm>
          <a:prstGeom prst="roundRect">
            <a:avLst>
              <a:gd name="adj" fmla="val 2646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0" name="Text 17"/>
          <p:cNvSpPr/>
          <p:nvPr/>
        </p:nvSpPr>
        <p:spPr>
          <a:xfrm>
            <a:off x="994767" y="4371142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lighttpd Web Server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994767" y="4696301"/>
            <a:ext cx="6084808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Lightweight, proven web server for embedded systems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93662" y="4214098"/>
            <a:ext cx="6399014" cy="890468"/>
          </a:xfrm>
          <a:prstGeom prst="roundRect">
            <a:avLst>
              <a:gd name="adj" fmla="val 2646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3" name="Text 20"/>
          <p:cNvSpPr/>
          <p:nvPr/>
        </p:nvSpPr>
        <p:spPr>
          <a:xfrm>
            <a:off x="7550706" y="4371142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 for Router Daemons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550706" y="4696301"/>
            <a:ext cx="608492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Native performance with small binary sizes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37724" y="5340191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Package Integration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837724" y="5806797"/>
            <a:ext cx="12954952" cy="1240393"/>
          </a:xfrm>
          <a:prstGeom prst="roundRect">
            <a:avLst>
              <a:gd name="adj" fmla="val 1900"/>
            </a:avLst>
          </a:prstGeom>
          <a:solidFill>
            <a:srgbClr val="1D1942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7" name="Shape 24"/>
          <p:cNvSpPr/>
          <p:nvPr/>
        </p:nvSpPr>
        <p:spPr>
          <a:xfrm>
            <a:off x="829985" y="5806797"/>
            <a:ext cx="12970431" cy="1240393"/>
          </a:xfrm>
          <a:prstGeom prst="roundRect">
            <a:avLst>
              <a:gd name="adj" fmla="val 1900"/>
            </a:avLst>
          </a:prstGeom>
          <a:solidFill>
            <a:srgbClr val="1D1942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8" name="Text 25"/>
          <p:cNvSpPr/>
          <p:nvPr/>
        </p:nvSpPr>
        <p:spPr>
          <a:xfrm>
            <a:off x="987028" y="5924550"/>
            <a:ext cx="12656344" cy="1004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/etc/config/usp-bridge    # UCI configuration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/etc/config/usp-auth      # JWT settings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/usr/sbin/usp-bridge      # ~50KB daemon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/usr/lib/cgi-bin/usp-auth # ~30KB CGI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37724" y="7223879"/>
            <a:ext cx="12954952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All packages follow OpenWRT packaging conventions (Makefile, init.d scripts).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075" y="542330"/>
            <a:ext cx="1108115" cy="240625"/>
          </a:xfrm>
          <a:prstGeom prst="roundRect">
            <a:avLst>
              <a:gd name="adj" fmla="val 6387"/>
            </a:avLst>
          </a:prstGeom>
          <a:solidFill>
            <a:srgbClr val="4C0107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4870" y="611386"/>
            <a:ext cx="102394" cy="1023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8461" y="580668"/>
            <a:ext cx="800933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SYSTEM DESIGN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88075" y="840343"/>
            <a:ext cx="3200638" cy="37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High-Level Architecture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788075" y="7277457"/>
            <a:ext cx="13054251" cy="409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architecture separates concerns with clear boundaries: the UI layer handles presentation, lighttpd manages security and routing, and backend services process USP operations. Communication flows through HTTPS and WSS protocols, with JWT-based authentication ensuring secure access.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14E003-AD4C-5AC5-F786-32B06BADE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61" y="1369170"/>
            <a:ext cx="5845427" cy="54283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8C11FA-DB50-C2A3-23BD-AB44A9A417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6842" y="4840984"/>
            <a:ext cx="238158" cy="13908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E1C90E-716E-7913-D906-5B4036ECE7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6309"/>
          <a:stretch>
            <a:fillRect/>
          </a:stretch>
        </p:blipFill>
        <p:spPr>
          <a:xfrm>
            <a:off x="5476842" y="4329978"/>
            <a:ext cx="238158" cy="607677"/>
          </a:xfrm>
          <a:prstGeom prst="rect">
            <a:avLst/>
          </a:prstGeom>
        </p:spPr>
      </p:pic>
      <p:sp>
        <p:nvSpPr>
          <p:cNvPr id="6" name="Text 19">
            <a:extLst>
              <a:ext uri="{FF2B5EF4-FFF2-40B4-BE49-F238E27FC236}">
                <a16:creationId xmlns:a16="http://schemas.microsoft.com/office/drawing/2014/main" id="{73FFDAFB-D7D4-42B5-036A-3D8A588FAE20}"/>
              </a:ext>
            </a:extLst>
          </p:cNvPr>
          <p:cNvSpPr/>
          <p:nvPr/>
        </p:nvSpPr>
        <p:spPr>
          <a:xfrm>
            <a:off x="7445693" y="2755406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Why This Split?</a:t>
            </a:r>
            <a:endParaRPr lang="en-US" sz="1550" dirty="0"/>
          </a:p>
        </p:txBody>
      </p:sp>
      <p:sp>
        <p:nvSpPr>
          <p:cNvPr id="7" name="Text 20">
            <a:extLst>
              <a:ext uri="{FF2B5EF4-FFF2-40B4-BE49-F238E27FC236}">
                <a16:creationId xmlns:a16="http://schemas.microsoft.com/office/drawing/2014/main" id="{EC5A3319-B068-1B37-8B8F-6F2546FC1C0C}"/>
              </a:ext>
            </a:extLst>
          </p:cNvPr>
          <p:cNvSpPr/>
          <p:nvPr/>
        </p:nvSpPr>
        <p:spPr>
          <a:xfrm>
            <a:off x="7445693" y="3403939"/>
            <a:ext cx="627304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Separation of concerns:</a:t>
            </a: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Each component does one thing well</a:t>
            </a:r>
            <a:endParaRPr lang="en-US" sz="1300" dirty="0"/>
          </a:p>
        </p:txBody>
      </p:sp>
      <p:sp>
        <p:nvSpPr>
          <p:cNvPr id="8" name="Text 21">
            <a:extLst>
              <a:ext uri="{FF2B5EF4-FFF2-40B4-BE49-F238E27FC236}">
                <a16:creationId xmlns:a16="http://schemas.microsoft.com/office/drawing/2014/main" id="{2C97975F-A404-C5FE-FD9A-46A9D8EBF013}"/>
              </a:ext>
            </a:extLst>
          </p:cNvPr>
          <p:cNvSpPr/>
          <p:nvPr/>
        </p:nvSpPr>
        <p:spPr>
          <a:xfrm>
            <a:off x="7445693" y="3730528"/>
            <a:ext cx="627304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Security:</a:t>
            </a: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Auth CGI is ephemeral; no long-running auth state</a:t>
            </a:r>
            <a:endParaRPr lang="en-US" sz="1300" dirty="0"/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3A383B28-DA9D-0683-4839-1741627E6FAE}"/>
              </a:ext>
            </a:extLst>
          </p:cNvPr>
          <p:cNvSpPr/>
          <p:nvPr/>
        </p:nvSpPr>
        <p:spPr>
          <a:xfrm>
            <a:off x="7445693" y="4057117"/>
            <a:ext cx="627304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Testability:</a:t>
            </a: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Each component can be tested in isolation</a:t>
            </a:r>
            <a:endParaRPr lang="en-US" sz="1300" dirty="0"/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467CC55D-2D42-38A1-2858-624278D1C4A4}"/>
              </a:ext>
            </a:extLst>
          </p:cNvPr>
          <p:cNvSpPr/>
          <p:nvPr/>
        </p:nvSpPr>
        <p:spPr>
          <a:xfrm>
            <a:off x="7445693" y="4383706"/>
            <a:ext cx="627304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Replaceability:</a:t>
            </a: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Swap OBUSPA for another USP agent if needed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683181"/>
            <a:ext cx="1267539" cy="310396"/>
          </a:xfrm>
          <a:prstGeom prst="roundRect">
            <a:avLst>
              <a:gd name="adj" fmla="val 6073"/>
            </a:avLst>
          </a:prstGeom>
          <a:noFill/>
          <a:ln w="7620">
            <a:solidFill>
              <a:srgbClr val="FD505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522" y="775573"/>
            <a:ext cx="125611" cy="1256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7879" y="737830"/>
            <a:ext cx="875586" cy="201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BRIDGE LAYER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37724" y="1056323"/>
            <a:ext cx="3696295" cy="4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USP Bridge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837724" y="1581150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Endpoints Exposed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37724" y="2047756"/>
            <a:ext cx="12954952" cy="3198971"/>
          </a:xfrm>
          <a:prstGeom prst="roundRect">
            <a:avLst>
              <a:gd name="adj" fmla="val 73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8" name="Shape 5"/>
          <p:cNvSpPr/>
          <p:nvPr/>
        </p:nvSpPr>
        <p:spPr>
          <a:xfrm>
            <a:off x="845344" y="2055376"/>
            <a:ext cx="12939713" cy="454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9" name="Text 6"/>
          <p:cNvSpPr/>
          <p:nvPr/>
        </p:nvSpPr>
        <p:spPr>
          <a:xfrm>
            <a:off x="1002387" y="2157174"/>
            <a:ext cx="356401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Endpoint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88111" y="2157174"/>
            <a:ext cx="1619250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Method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29068" y="2157174"/>
            <a:ext cx="679894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Purpose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5344" y="2510195"/>
            <a:ext cx="12939713" cy="454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3" name="Text 10"/>
          <p:cNvSpPr/>
          <p:nvPr/>
        </p:nvSpPr>
        <p:spPr>
          <a:xfrm>
            <a:off x="1002387" y="2611993"/>
            <a:ext cx="356401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/api/usp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88111" y="2611993"/>
            <a:ext cx="1619250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29068" y="2611993"/>
            <a:ext cx="679894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USP Request/Response (protobuf)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45344" y="2965013"/>
            <a:ext cx="12939713" cy="454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7" name="Text 14"/>
          <p:cNvSpPr/>
          <p:nvPr/>
        </p:nvSpPr>
        <p:spPr>
          <a:xfrm>
            <a:off x="1002387" y="3066812"/>
            <a:ext cx="356401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/api/events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88111" y="3066812"/>
            <a:ext cx="1619250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GET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29068" y="3066812"/>
            <a:ext cx="679894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SSE notification stream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45344" y="3419832"/>
            <a:ext cx="12939713" cy="454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1" name="Text 18"/>
          <p:cNvSpPr/>
          <p:nvPr/>
        </p:nvSpPr>
        <p:spPr>
          <a:xfrm>
            <a:off x="1002387" y="3521631"/>
            <a:ext cx="356401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/api/subscribe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88111" y="3521631"/>
            <a:ext cx="1619250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POST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29068" y="3521631"/>
            <a:ext cx="679894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Register subscription→session mapping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45344" y="3874651"/>
            <a:ext cx="12939713" cy="454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5" name="Text 22"/>
          <p:cNvSpPr/>
          <p:nvPr/>
        </p:nvSpPr>
        <p:spPr>
          <a:xfrm>
            <a:off x="1002387" y="3976449"/>
            <a:ext cx="356401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/api/turbo/start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88111" y="3976449"/>
            <a:ext cx="1619250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POST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29068" y="3976449"/>
            <a:ext cx="679894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Acquire turbo channel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45344" y="4329470"/>
            <a:ext cx="12939713" cy="4548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9" name="Text 26"/>
          <p:cNvSpPr/>
          <p:nvPr/>
        </p:nvSpPr>
        <p:spPr>
          <a:xfrm>
            <a:off x="1002387" y="4431268"/>
            <a:ext cx="356401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/api/turbo/heartbeat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88111" y="4431268"/>
            <a:ext cx="1619250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POST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29068" y="4431268"/>
            <a:ext cx="679894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Keep turbo channel alive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45344" y="4784288"/>
            <a:ext cx="12939713" cy="4548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3" name="Text 30"/>
          <p:cNvSpPr/>
          <p:nvPr/>
        </p:nvSpPr>
        <p:spPr>
          <a:xfrm>
            <a:off x="1002387" y="4886087"/>
            <a:ext cx="356401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/api/turbo/release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88111" y="4886087"/>
            <a:ext cx="1619250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POST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829068" y="4886087"/>
            <a:ext cx="679894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Release turbo channel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37724" y="5482352"/>
            <a:ext cx="26149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Internal State (In-Memory Only)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837724" y="6090285"/>
            <a:ext cx="628590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Session → SSE connections (fan-out)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37724" y="6396395"/>
            <a:ext cx="628590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Subscription → Session mapping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514392" y="6090285"/>
            <a:ext cx="628590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Request correlation (msg_id)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514392" y="6396395"/>
            <a:ext cx="628590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Turbo channel ownership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837724" y="6879193"/>
            <a:ext cx="12954952" cy="667226"/>
          </a:xfrm>
          <a:prstGeom prst="roundRect">
            <a:avLst>
              <a:gd name="adj" fmla="val 3532"/>
            </a:avLst>
          </a:prstGeom>
          <a:solidFill>
            <a:srgbClr val="4C0107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767" y="7097911"/>
            <a:ext cx="196334" cy="157043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1348145" y="7075408"/>
            <a:ext cx="12287488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 persistent state</a:t>
            </a:r>
            <a:r>
              <a:rPr lang="en-US" sz="12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survives restart by re-registration.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576977"/>
            <a:ext cx="1440299" cy="389215"/>
          </a:xfrm>
          <a:prstGeom prst="roundRect">
            <a:avLst>
              <a:gd name="adj" fmla="val 6135"/>
            </a:avLst>
          </a:prstGeom>
          <a:noFill/>
          <a:ln w="7620">
            <a:solidFill>
              <a:srgbClr val="FD505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644" y="691991"/>
            <a:ext cx="159187" cy="1591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3365" y="644247"/>
            <a:ext cx="947737" cy="25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TRANSPORT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37724" y="1050846"/>
            <a:ext cx="4943356" cy="585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Dual Transport Strategy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837724" y="1715572"/>
            <a:ext cx="2340888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Why Two Transports?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37724" y="2306479"/>
            <a:ext cx="12954952" cy="1731526"/>
          </a:xfrm>
          <a:prstGeom prst="roundRect">
            <a:avLst>
              <a:gd name="adj" fmla="val 172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8" name="Shape 5"/>
          <p:cNvSpPr/>
          <p:nvPr/>
        </p:nvSpPr>
        <p:spPr>
          <a:xfrm>
            <a:off x="845344" y="2314099"/>
            <a:ext cx="12939713" cy="5720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9" name="Text 6"/>
          <p:cNvSpPr/>
          <p:nvPr/>
        </p:nvSpPr>
        <p:spPr>
          <a:xfrm>
            <a:off x="1044297" y="2441019"/>
            <a:ext cx="2833211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Transport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283035" y="2441019"/>
            <a:ext cx="4123373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Use Case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811935" y="2441019"/>
            <a:ext cx="4774168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Characteristics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845344" y="2886194"/>
            <a:ext cx="12939713" cy="5720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3" name="Text 10"/>
          <p:cNvSpPr/>
          <p:nvPr/>
        </p:nvSpPr>
        <p:spPr>
          <a:xfrm>
            <a:off x="1044297" y="3013115"/>
            <a:ext cx="2833211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HTTP/SSE (Normal)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283035" y="3013115"/>
            <a:ext cx="4123373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Get, Set, Add, Delete, subscriptions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811935" y="3013115"/>
            <a:ext cx="4774168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Multi-client, via USP Bridge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45344" y="3458289"/>
            <a:ext cx="12939713" cy="5720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7" name="Text 14"/>
          <p:cNvSpPr/>
          <p:nvPr/>
        </p:nvSpPr>
        <p:spPr>
          <a:xfrm>
            <a:off x="1044297" y="3585210"/>
            <a:ext cx="2833211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WebSocket (Turbo)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283035" y="3585210"/>
            <a:ext cx="4123373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Packet capture, log streaming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811935" y="3585210"/>
            <a:ext cx="4774168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Single-client, via usp-client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37724" y="4460796"/>
            <a:ext cx="2364938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Normal Transport Flow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37724" y="4952286"/>
            <a:ext cx="6234827" cy="63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UI → usp-client → HTTP POST /api/usp → USP Bridge → UDS → OBUSPA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837724" y="5767864"/>
            <a:ext cx="6234827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SSE /api/events ← notifications (fan-out to all tabs)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7565469" y="4460796"/>
            <a:ext cx="2340888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Turbo Channel Flow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565469" y="4952286"/>
            <a:ext cx="6234827" cy="63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UI → usp-client → POST /api/turbo/start → USP Bridge (reserves channel)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7565469" y="5767864"/>
            <a:ext cx="6234827" cy="63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usp-client → WebSocket /usp-ws → lighttpd → OBUSPA (streaming)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837724" y="6807279"/>
            <a:ext cx="12954952" cy="845344"/>
          </a:xfrm>
          <a:prstGeom prst="roundRect">
            <a:avLst>
              <a:gd name="adj" fmla="val 3531"/>
            </a:avLst>
          </a:prstGeom>
          <a:solidFill>
            <a:srgbClr val="4C0107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677" y="7079813"/>
            <a:ext cx="248722" cy="198953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484352" y="7055882"/>
            <a:ext cx="12109371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Key:</a:t>
            </a:r>
            <a:r>
              <a:rPr lang="en-US" sz="15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WebSocket is managed by usp-client (Rust), not the UI directly.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646867"/>
            <a:ext cx="1360527" cy="334447"/>
          </a:xfrm>
          <a:prstGeom prst="roundRect">
            <a:avLst>
              <a:gd name="adj" fmla="val 6388"/>
            </a:avLst>
          </a:prstGeom>
          <a:solidFill>
            <a:srgbClr val="4C0107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523" y="742831"/>
            <a:ext cx="142399" cy="142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8121" y="700207"/>
            <a:ext cx="933331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MODULARITY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37724" y="1058347"/>
            <a:ext cx="6429613" cy="52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Package Architecture (8 Packages)</a:t>
            </a:r>
            <a:endParaRPr lang="en-US" sz="3250" dirty="0"/>
          </a:p>
        </p:txBody>
      </p:sp>
      <p:sp>
        <p:nvSpPr>
          <p:cNvPr id="6" name="Shape 3"/>
          <p:cNvSpPr/>
          <p:nvPr/>
        </p:nvSpPr>
        <p:spPr>
          <a:xfrm>
            <a:off x="837724" y="1848922"/>
            <a:ext cx="12954952" cy="4653201"/>
          </a:xfrm>
          <a:prstGeom prst="roundRect">
            <a:avLst>
              <a:gd name="adj" fmla="val 57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7" name="Shape 4"/>
          <p:cNvSpPr/>
          <p:nvPr/>
        </p:nvSpPr>
        <p:spPr>
          <a:xfrm>
            <a:off x="845344" y="1856542"/>
            <a:ext cx="12939713" cy="5136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8" name="Text 5"/>
          <p:cNvSpPr/>
          <p:nvPr/>
        </p:nvSpPr>
        <p:spPr>
          <a:xfrm>
            <a:off x="1023342" y="1970961"/>
            <a:ext cx="934164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#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321123" y="1970961"/>
            <a:ext cx="351829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Package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03037" y="1970961"/>
            <a:ext cx="222432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Language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90980" y="1970961"/>
            <a:ext cx="481607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Purpose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45344" y="2370177"/>
            <a:ext cx="12939713" cy="5288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3" name="Text 10"/>
          <p:cNvSpPr/>
          <p:nvPr/>
        </p:nvSpPr>
        <p:spPr>
          <a:xfrm>
            <a:off x="1023342" y="2484596"/>
            <a:ext cx="934164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321123" y="2484596"/>
            <a:ext cx="351829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usp-bridge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03037" y="2484596"/>
            <a:ext cx="222432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90980" y="2484596"/>
            <a:ext cx="481607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HTTP/SSE </a:t>
            </a:r>
            <a:r>
              <a:rPr lang="en-US" sz="140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↔</a:t>
            </a: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UDS bridge daemon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45344" y="2899053"/>
            <a:ext cx="12939713" cy="5136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8" name="Text 15"/>
          <p:cNvSpPr/>
          <p:nvPr/>
        </p:nvSpPr>
        <p:spPr>
          <a:xfrm>
            <a:off x="1023342" y="3013472"/>
            <a:ext cx="934164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321123" y="3013472"/>
            <a:ext cx="351829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usp-auth-cgi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03037" y="3013472"/>
            <a:ext cx="222432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790980" y="3013472"/>
            <a:ext cx="481607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JWT authentication CGI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45344" y="3412688"/>
            <a:ext cx="12939713" cy="51363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3" name="Text 20"/>
          <p:cNvSpPr/>
          <p:nvPr/>
        </p:nvSpPr>
        <p:spPr>
          <a:xfrm>
            <a:off x="1023342" y="3527108"/>
            <a:ext cx="934164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321123" y="3527108"/>
            <a:ext cx="351829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usp-lighttpd-config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03037" y="3527108"/>
            <a:ext cx="222432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Config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790980" y="3527108"/>
            <a:ext cx="481607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Routing, TLS, proxy rules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45344" y="3926324"/>
            <a:ext cx="12939713" cy="5136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8" name="Text 25"/>
          <p:cNvSpPr/>
          <p:nvPr/>
        </p:nvSpPr>
        <p:spPr>
          <a:xfrm>
            <a:off x="1023342" y="4040743"/>
            <a:ext cx="934164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2321123" y="4040743"/>
            <a:ext cx="351829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usp-client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203037" y="4040743"/>
            <a:ext cx="222432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Rust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790980" y="4040743"/>
            <a:ext cx="481607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Client library (FFI + WASM)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45344" y="4439960"/>
            <a:ext cx="12939713" cy="51363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3" name="Text 30"/>
          <p:cNvSpPr/>
          <p:nvPr/>
        </p:nvSpPr>
        <p:spPr>
          <a:xfrm>
            <a:off x="1023342" y="4554379"/>
            <a:ext cx="934164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2321123" y="4554379"/>
            <a:ext cx="351829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 err="1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usp</a:t>
            </a: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-definitions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203037" y="4554379"/>
            <a:ext cx="222432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YAML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790980" y="4554379"/>
            <a:ext cx="481607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API + transforms definition files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45344" y="4953595"/>
            <a:ext cx="12939713" cy="5136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8" name="Text 35"/>
          <p:cNvSpPr/>
          <p:nvPr/>
        </p:nvSpPr>
        <p:spPr>
          <a:xfrm>
            <a:off x="1023342" y="5068014"/>
            <a:ext cx="934164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2321123" y="5068014"/>
            <a:ext cx="351829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usp-codegen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203037" y="5068014"/>
            <a:ext cx="222432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8790980" y="5068014"/>
            <a:ext cx="481607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YAML → Dart/TS generator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845344" y="5467231"/>
            <a:ext cx="12939713" cy="51363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3" name="Text 40"/>
          <p:cNvSpPr/>
          <p:nvPr/>
        </p:nvSpPr>
        <p:spPr>
          <a:xfrm>
            <a:off x="1023342" y="5581650"/>
            <a:ext cx="934164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2321123" y="5581650"/>
            <a:ext cx="351829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usp-llm-proxy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203037" y="5581650"/>
            <a:ext cx="222432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8790980" y="5581650"/>
            <a:ext cx="481607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AI chat validation + retry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845344" y="5980867"/>
            <a:ext cx="12939713" cy="5136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8" name="Text 45"/>
          <p:cNvSpPr/>
          <p:nvPr/>
        </p:nvSpPr>
        <p:spPr>
          <a:xfrm>
            <a:off x="1023342" y="6095286"/>
            <a:ext cx="934164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8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2321123" y="6095286"/>
            <a:ext cx="351829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usp-ui-flutter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6203037" y="6095286"/>
            <a:ext cx="222432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Flutter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8790980" y="6095286"/>
            <a:ext cx="481607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Cross-platform UI app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837724" y="6769179"/>
            <a:ext cx="209454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Isolation Benefits</a:t>
            </a:r>
            <a:endParaRPr lang="en-US" sz="1600" dirty="0"/>
          </a:p>
        </p:txBody>
      </p:sp>
      <p:pic>
        <p:nvPicPr>
          <p:cNvPr id="5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7395865"/>
            <a:ext cx="88940" cy="88940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1104662" y="7297936"/>
            <a:ext cx="390298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Independent versioning and testing</a:t>
            </a:r>
            <a:endParaRPr lang="en-US" sz="1400" dirty="0"/>
          </a:p>
        </p:txBody>
      </p:sp>
      <p:pic>
        <p:nvPicPr>
          <p:cNvPr id="5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178" y="7395865"/>
            <a:ext cx="88940" cy="88940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5497116" y="7297936"/>
            <a:ext cx="390298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Clear dependency graph</a:t>
            </a:r>
            <a:endParaRPr lang="en-US" sz="1400" dirty="0"/>
          </a:p>
        </p:txBody>
      </p:sp>
      <p:pic>
        <p:nvPicPr>
          <p:cNvPr id="5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2631" y="7395865"/>
            <a:ext cx="88940" cy="88940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9889569" y="7297936"/>
            <a:ext cx="390298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Replace any package without affecting others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189AE9FF-5D28-4843-DB62-9E8A26D389D6}"/>
              </a:ext>
            </a:extLst>
          </p:cNvPr>
          <p:cNvSpPr/>
          <p:nvPr/>
        </p:nvSpPr>
        <p:spPr>
          <a:xfrm>
            <a:off x="837724" y="1058347"/>
            <a:ext cx="6429613" cy="52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AI Powered router management</a:t>
            </a:r>
            <a:endParaRPr lang="en-US" sz="325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1ABD30-EE34-626D-042C-F3A6F10DA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360937"/>
              </p:ext>
            </p:extLst>
          </p:nvPr>
        </p:nvGraphicFramePr>
        <p:xfrm>
          <a:off x="837724" y="1820863"/>
          <a:ext cx="9753600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251200">
                  <a:extLst>
                    <a:ext uri="{9D8B030D-6E8A-4147-A177-3AD203B41FA5}">
                      <a16:colId xmlns:a16="http://schemas.microsoft.com/office/drawing/2014/main" val="2446967519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1723055456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3509632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Data Path</a:t>
                      </a:r>
                      <a:endParaRPr lang="en-15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Use Case</a:t>
                      </a:r>
                      <a:endParaRPr lang="en-15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Characteristics</a:t>
                      </a:r>
                      <a:endParaRPr lang="en-15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258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Static</a:t>
                      </a:r>
                      <a:r>
                        <a:rPr lang="fr-FR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1800" b="1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Generated</a:t>
                      </a:r>
                      <a:r>
                        <a:rPr lang="fr-FR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18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99% of </a:t>
                      </a:r>
                      <a:r>
                        <a:rPr lang="fr-F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operations</a:t>
                      </a:r>
                      <a:endParaRPr lang="fr-FR" sz="18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Type-</a:t>
                      </a:r>
                      <a:r>
                        <a:rPr lang="fr-F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</a:t>
                      </a:r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compile-time </a:t>
                      </a:r>
                      <a:r>
                        <a:rPr lang="fr-F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checked</a:t>
                      </a:r>
                      <a:endParaRPr lang="fr-FR" sz="18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648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Dynamic (AI)</a:t>
                      </a:r>
                      <a:endParaRPr lang="fr-FR" sz="18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 </a:t>
                      </a:r>
                      <a:r>
                        <a:rPr lang="fr-F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language</a:t>
                      </a:r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queries</a:t>
                      </a:r>
                      <a:endParaRPr lang="fr-FR" sz="18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Runtime YAML, router-</a:t>
                      </a:r>
                      <a:r>
                        <a:rPr lang="fr-F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validated</a:t>
                      </a:r>
                      <a:endParaRPr lang="fr-FR" sz="18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916014"/>
                  </a:ext>
                </a:extLst>
              </a:tr>
            </a:tbl>
          </a:graphicData>
        </a:graphic>
      </p:graphicFrame>
      <p:sp>
        <p:nvSpPr>
          <p:cNvPr id="4" name="Text 24">
            <a:extLst>
              <a:ext uri="{FF2B5EF4-FFF2-40B4-BE49-F238E27FC236}">
                <a16:creationId xmlns:a16="http://schemas.microsoft.com/office/drawing/2014/main" id="{EA526691-E9BD-A26A-85C0-D4D052CAC0FC}"/>
              </a:ext>
            </a:extLst>
          </p:cNvPr>
          <p:cNvSpPr/>
          <p:nvPr/>
        </p:nvSpPr>
        <p:spPr>
          <a:xfrm>
            <a:off x="837724" y="3281125"/>
            <a:ext cx="332934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Why AI on the router?</a:t>
            </a:r>
            <a:endParaRPr lang="en-US" sz="155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CF78417C-4B33-300A-60C6-E762CEFB5DCB}"/>
              </a:ext>
            </a:extLst>
          </p:cNvPr>
          <p:cNvSpPr/>
          <p:nvPr/>
        </p:nvSpPr>
        <p:spPr>
          <a:xfrm>
            <a:off x="837724" y="3695105"/>
            <a:ext cx="627304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FontTx/>
              <a:buChar char="•"/>
            </a:pPr>
            <a:r>
              <a:rPr lang="en-GB" sz="1300" b="1" dirty="0">
                <a:solidFill>
                  <a:srgbClr val="D9E1FF"/>
                </a:solidFill>
                <a:latin typeface="Martel Sans Light" pitchFamily="34" charset="0"/>
                <a:cs typeface="Martel Sans Light" pitchFamily="34" charset="-120"/>
              </a:rPr>
              <a:t>Browser cannot connect directly to LLM</a:t>
            </a:r>
            <a:r>
              <a:rPr lang="en-US" sz="13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:</a:t>
            </a: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requires authentication</a:t>
            </a:r>
            <a:endParaRPr lang="en-US" sz="1300" dirty="0"/>
          </a:p>
        </p:txBody>
      </p:sp>
      <p:sp>
        <p:nvSpPr>
          <p:cNvPr id="6" name="Text 26">
            <a:extLst>
              <a:ext uri="{FF2B5EF4-FFF2-40B4-BE49-F238E27FC236}">
                <a16:creationId xmlns:a16="http://schemas.microsoft.com/office/drawing/2014/main" id="{42052F0A-72B5-B402-94BA-A5B7FD9ABA37}"/>
              </a:ext>
            </a:extLst>
          </p:cNvPr>
          <p:cNvSpPr/>
          <p:nvPr/>
        </p:nvSpPr>
        <p:spPr>
          <a:xfrm>
            <a:off x="837724" y="4021693"/>
            <a:ext cx="627304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FontTx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Security:</a:t>
            </a: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</a:t>
            </a:r>
            <a:r>
              <a:rPr lang="en-GB" sz="1300" dirty="0">
                <a:solidFill>
                  <a:srgbClr val="D9E1FF"/>
                </a:solidFill>
                <a:latin typeface="Martel Sans Light" pitchFamily="34" charset="0"/>
                <a:cs typeface="Martel Sans Light" pitchFamily="34" charset="-120"/>
              </a:rPr>
              <a:t>Router validates all AI-generated YAML before execution</a:t>
            </a:r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endParaRPr lang="en-US" sz="1300" dirty="0"/>
          </a:p>
        </p:txBody>
      </p:sp>
      <p:sp>
        <p:nvSpPr>
          <p:cNvPr id="7" name="Text 27">
            <a:extLst>
              <a:ext uri="{FF2B5EF4-FFF2-40B4-BE49-F238E27FC236}">
                <a16:creationId xmlns:a16="http://schemas.microsoft.com/office/drawing/2014/main" id="{C41AA66F-27CC-8D96-CB3B-51681D7AC9DA}"/>
              </a:ext>
            </a:extLst>
          </p:cNvPr>
          <p:cNvSpPr/>
          <p:nvPr/>
        </p:nvSpPr>
        <p:spPr>
          <a:xfrm>
            <a:off x="837724" y="4348282"/>
            <a:ext cx="627304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FontTx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Privacy:</a:t>
            </a: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</a:t>
            </a:r>
            <a:r>
              <a:rPr lang="fr-FR" sz="1300" dirty="0">
                <a:solidFill>
                  <a:srgbClr val="D9E1FF"/>
                </a:solidFill>
                <a:latin typeface="Martel Sans Light" pitchFamily="34" charset="0"/>
                <a:cs typeface="Martel Sans Light" pitchFamily="34" charset="-120"/>
              </a:rPr>
              <a:t>Customer </a:t>
            </a:r>
            <a:r>
              <a:rPr lang="fr-FR" sz="1300" dirty="0" err="1">
                <a:solidFill>
                  <a:srgbClr val="D9E1FF"/>
                </a:solidFill>
                <a:latin typeface="Martel Sans Light" pitchFamily="34" charset="0"/>
                <a:cs typeface="Martel Sans Light" pitchFamily="34" charset="-120"/>
              </a:rPr>
              <a:t>controls</a:t>
            </a:r>
            <a:r>
              <a:rPr lang="fr-FR" sz="1300" dirty="0">
                <a:solidFill>
                  <a:srgbClr val="D9E1FF"/>
                </a:solidFill>
                <a:latin typeface="Martel Sans Light" pitchFamily="34" charset="0"/>
                <a:cs typeface="Martel Sans Light" pitchFamily="34" charset="-120"/>
              </a:rPr>
              <a:t> cloud vs local LLM via settings</a:t>
            </a:r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endParaRPr lang="en-US" sz="1300" dirty="0"/>
          </a:p>
        </p:txBody>
      </p:sp>
      <p:sp>
        <p:nvSpPr>
          <p:cNvPr id="8" name="Text 27">
            <a:extLst>
              <a:ext uri="{FF2B5EF4-FFF2-40B4-BE49-F238E27FC236}">
                <a16:creationId xmlns:a16="http://schemas.microsoft.com/office/drawing/2014/main" id="{A1F7DEEC-55F8-BE46-9DA1-6019DEB733AB}"/>
              </a:ext>
            </a:extLst>
          </p:cNvPr>
          <p:cNvSpPr/>
          <p:nvPr/>
        </p:nvSpPr>
        <p:spPr>
          <a:xfrm>
            <a:off x="837724" y="4674871"/>
            <a:ext cx="602027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FontTx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Retry Logic:</a:t>
            </a: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V</a:t>
            </a:r>
            <a:r>
              <a:rPr lang="en-GB" sz="1300" dirty="0" err="1">
                <a:solidFill>
                  <a:srgbClr val="D9E1FF"/>
                </a:solidFill>
                <a:latin typeface="Martel Sans Light" pitchFamily="34" charset="0"/>
                <a:cs typeface="Martel Sans Light" pitchFamily="34" charset="-120"/>
              </a:rPr>
              <a:t>alidation</a:t>
            </a:r>
            <a:r>
              <a:rPr lang="en-GB" sz="1300" dirty="0">
                <a:solidFill>
                  <a:srgbClr val="D9E1FF"/>
                </a:solidFill>
                <a:latin typeface="Martel Sans Light" pitchFamily="34" charset="0"/>
                <a:cs typeface="Martel Sans Light" pitchFamily="34" charset="-120"/>
              </a:rPr>
              <a:t> failures sent back to LLM without UI involvement</a:t>
            </a:r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endParaRPr lang="en-US" sz="13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6DDF63-EBC2-239E-6581-EC0DE569F519}"/>
              </a:ext>
            </a:extLst>
          </p:cNvPr>
          <p:cNvSpPr/>
          <p:nvPr/>
        </p:nvSpPr>
        <p:spPr>
          <a:xfrm>
            <a:off x="5872162" y="5150644"/>
            <a:ext cx="6472238" cy="29075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59524A-C2DA-CA2D-C7E2-E29BECDD021D}"/>
              </a:ext>
            </a:extLst>
          </p:cNvPr>
          <p:cNvSpPr/>
          <p:nvPr/>
        </p:nvSpPr>
        <p:spPr>
          <a:xfrm>
            <a:off x="8293893" y="5750719"/>
            <a:ext cx="1571625" cy="658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usp</a:t>
            </a:r>
            <a:r>
              <a:rPr lang="fr-FR" dirty="0"/>
              <a:t>-</a:t>
            </a:r>
            <a:r>
              <a:rPr lang="fr-FR" dirty="0" err="1"/>
              <a:t>llm</a:t>
            </a:r>
            <a:r>
              <a:rPr lang="fr-FR" dirty="0"/>
              <a:t>-proxy</a:t>
            </a:r>
            <a:endParaRPr lang="en-1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895F9D-E626-30FD-0722-1E4B1FBFE725}"/>
              </a:ext>
            </a:extLst>
          </p:cNvPr>
          <p:cNvSpPr/>
          <p:nvPr/>
        </p:nvSpPr>
        <p:spPr>
          <a:xfrm>
            <a:off x="8293893" y="3888167"/>
            <a:ext cx="1571625" cy="658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LLM in Cloud</a:t>
            </a:r>
            <a:endParaRPr lang="en-1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D36AEA-BD20-1AE9-B764-A167033A3AFB}"/>
              </a:ext>
            </a:extLst>
          </p:cNvPr>
          <p:cNvSpPr/>
          <p:nvPr/>
        </p:nvSpPr>
        <p:spPr>
          <a:xfrm>
            <a:off x="10451306" y="5750719"/>
            <a:ext cx="1571625" cy="658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Local micro LLM</a:t>
            </a:r>
            <a:endParaRPr lang="en-1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202C05-2DBC-F399-972D-E5E00E67836E}"/>
              </a:ext>
            </a:extLst>
          </p:cNvPr>
          <p:cNvSpPr/>
          <p:nvPr/>
        </p:nvSpPr>
        <p:spPr>
          <a:xfrm>
            <a:off x="8322468" y="6892926"/>
            <a:ext cx="1571625" cy="658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usp</a:t>
            </a:r>
            <a:r>
              <a:rPr lang="fr-FR" dirty="0"/>
              <a:t>-bridge</a:t>
            </a:r>
            <a:endParaRPr lang="en-1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7B2330-94CC-7A21-BA76-33789615A231}"/>
              </a:ext>
            </a:extLst>
          </p:cNvPr>
          <p:cNvSpPr/>
          <p:nvPr/>
        </p:nvSpPr>
        <p:spPr>
          <a:xfrm>
            <a:off x="10451305" y="6904434"/>
            <a:ext cx="1571625" cy="658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usp</a:t>
            </a:r>
            <a:r>
              <a:rPr lang="fr-FR" dirty="0"/>
              <a:t>-agent</a:t>
            </a:r>
            <a:endParaRPr lang="en-150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C3619D2-C2FB-C036-5545-F18E07CF1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300038" y="5314157"/>
            <a:ext cx="2436019" cy="2436019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A23BF4C-D224-A4F1-9032-06A640BDF7DC}"/>
              </a:ext>
            </a:extLst>
          </p:cNvPr>
          <p:cNvCxnSpPr>
            <a:cxnSpLocks/>
          </p:cNvCxnSpPr>
          <p:nvPr/>
        </p:nvCxnSpPr>
        <p:spPr>
          <a:xfrm flipV="1">
            <a:off x="4564855" y="5907881"/>
            <a:ext cx="1693070" cy="397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6D5437B-6BEE-54AE-EFAC-7311B3A17020}"/>
              </a:ext>
            </a:extLst>
          </p:cNvPr>
          <p:cNvSpPr txBox="1"/>
          <p:nvPr/>
        </p:nvSpPr>
        <p:spPr>
          <a:xfrm>
            <a:off x="1845170" y="5297073"/>
            <a:ext cx="166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What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channel</a:t>
            </a:r>
            <a:r>
              <a:rPr lang="fr-FR" dirty="0">
                <a:solidFill>
                  <a:schemeClr val="bg1"/>
                </a:solidFill>
              </a:rPr>
              <a:t> </a:t>
            </a:r>
          </a:p>
          <a:p>
            <a:r>
              <a:rPr lang="fr-FR" dirty="0" err="1">
                <a:solidFill>
                  <a:schemeClr val="bg1"/>
                </a:solidFill>
              </a:rPr>
              <a:t>is</a:t>
            </a:r>
            <a:r>
              <a:rPr lang="fr-FR" dirty="0">
                <a:solidFill>
                  <a:schemeClr val="bg1"/>
                </a:solidFill>
              </a:rPr>
              <a:t> Wifi </a:t>
            </a:r>
            <a:r>
              <a:rPr lang="fr-FR" dirty="0" err="1">
                <a:solidFill>
                  <a:schemeClr val="bg1"/>
                </a:solidFill>
              </a:rPr>
              <a:t>using</a:t>
            </a:r>
            <a:r>
              <a:rPr lang="fr-FR" dirty="0">
                <a:solidFill>
                  <a:schemeClr val="bg1"/>
                </a:solidFill>
              </a:rPr>
              <a:t>?</a:t>
            </a:r>
            <a:endParaRPr lang="en-150" dirty="0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6D07903-C64A-29FE-FF6F-16B8D8E30909}"/>
              </a:ext>
            </a:extLst>
          </p:cNvPr>
          <p:cNvCxnSpPr>
            <a:cxnSpLocks/>
          </p:cNvCxnSpPr>
          <p:nvPr/>
        </p:nvCxnSpPr>
        <p:spPr>
          <a:xfrm>
            <a:off x="7708106" y="5908278"/>
            <a:ext cx="585787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842C0D0-0445-7E33-1884-C7FE131DD50B}"/>
              </a:ext>
            </a:extLst>
          </p:cNvPr>
          <p:cNvCxnSpPr>
            <a:cxnSpLocks/>
          </p:cNvCxnSpPr>
          <p:nvPr/>
        </p:nvCxnSpPr>
        <p:spPr>
          <a:xfrm flipV="1">
            <a:off x="8586788" y="4546185"/>
            <a:ext cx="0" cy="120453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BB79F2-A0C5-CA8B-FACD-354FCEC2038F}"/>
              </a:ext>
            </a:extLst>
          </p:cNvPr>
          <p:cNvCxnSpPr/>
          <p:nvPr/>
        </p:nvCxnSpPr>
        <p:spPr>
          <a:xfrm>
            <a:off x="8901112" y="4548377"/>
            <a:ext cx="0" cy="1204534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B8B25A0-F715-374E-9AD6-D0AB4A8F719E}"/>
              </a:ext>
            </a:extLst>
          </p:cNvPr>
          <p:cNvSpPr/>
          <p:nvPr/>
        </p:nvSpPr>
        <p:spPr>
          <a:xfrm>
            <a:off x="3684388" y="5776229"/>
            <a:ext cx="1450181" cy="18002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UI</a:t>
            </a:r>
            <a:endParaRPr lang="en-15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A71AA12-F8C9-CD4A-B086-5ED6D3384E68}"/>
              </a:ext>
            </a:extLst>
          </p:cNvPr>
          <p:cNvCxnSpPr>
            <a:cxnSpLocks/>
          </p:cNvCxnSpPr>
          <p:nvPr/>
        </p:nvCxnSpPr>
        <p:spPr>
          <a:xfrm>
            <a:off x="1471613" y="5917803"/>
            <a:ext cx="225415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A482E10-38C3-242F-A253-321DE733344D}"/>
              </a:ext>
            </a:extLst>
          </p:cNvPr>
          <p:cNvCxnSpPr>
            <a:cxnSpLocks/>
          </p:cNvCxnSpPr>
          <p:nvPr/>
        </p:nvCxnSpPr>
        <p:spPr>
          <a:xfrm flipH="1">
            <a:off x="7708106" y="6030118"/>
            <a:ext cx="585787" cy="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87ACCEC-E8A1-C881-0F4F-3146F3AD8291}"/>
              </a:ext>
            </a:extLst>
          </p:cNvPr>
          <p:cNvCxnSpPr>
            <a:cxnSpLocks/>
          </p:cNvCxnSpPr>
          <p:nvPr/>
        </p:nvCxnSpPr>
        <p:spPr>
          <a:xfrm flipH="1">
            <a:off x="5126948" y="6008290"/>
            <a:ext cx="1123356" cy="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A53D9AB-12C7-ABCE-0049-30E5F72197C0}"/>
              </a:ext>
            </a:extLst>
          </p:cNvPr>
          <p:cNvCxnSpPr>
            <a:cxnSpLocks/>
          </p:cNvCxnSpPr>
          <p:nvPr/>
        </p:nvCxnSpPr>
        <p:spPr>
          <a:xfrm>
            <a:off x="5134569" y="6986588"/>
            <a:ext cx="1123356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442D69A-9B34-9677-58CF-A322EA64386D}"/>
              </a:ext>
            </a:extLst>
          </p:cNvPr>
          <p:cNvSpPr txBox="1"/>
          <p:nvPr/>
        </p:nvSpPr>
        <p:spPr>
          <a:xfrm>
            <a:off x="5103016" y="6617256"/>
            <a:ext cx="125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USP </a:t>
            </a:r>
            <a:r>
              <a:rPr lang="fr-FR" dirty="0" err="1">
                <a:solidFill>
                  <a:schemeClr val="bg1"/>
                </a:solidFill>
              </a:rPr>
              <a:t>query</a:t>
            </a:r>
            <a:endParaRPr lang="en-150" dirty="0">
              <a:solidFill>
                <a:schemeClr val="bg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D42591B-4C26-DD12-FF3D-96E416D78183}"/>
              </a:ext>
            </a:extLst>
          </p:cNvPr>
          <p:cNvCxnSpPr>
            <a:cxnSpLocks/>
          </p:cNvCxnSpPr>
          <p:nvPr/>
        </p:nvCxnSpPr>
        <p:spPr>
          <a:xfrm>
            <a:off x="7708106" y="6986588"/>
            <a:ext cx="614362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DF6F575-8A78-8000-5C88-1D00D41DD49F}"/>
              </a:ext>
            </a:extLst>
          </p:cNvPr>
          <p:cNvCxnSpPr>
            <a:cxnSpLocks/>
          </p:cNvCxnSpPr>
          <p:nvPr/>
        </p:nvCxnSpPr>
        <p:spPr>
          <a:xfrm>
            <a:off x="9894093" y="6996113"/>
            <a:ext cx="557213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B37CA66-DB9D-8F2E-9D6F-BB1C4A42150B}"/>
              </a:ext>
            </a:extLst>
          </p:cNvPr>
          <p:cNvCxnSpPr>
            <a:cxnSpLocks/>
          </p:cNvCxnSpPr>
          <p:nvPr/>
        </p:nvCxnSpPr>
        <p:spPr>
          <a:xfrm flipH="1">
            <a:off x="9894093" y="7343775"/>
            <a:ext cx="557213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924130C-CF7B-310B-38D7-5930169A6AE0}"/>
              </a:ext>
            </a:extLst>
          </p:cNvPr>
          <p:cNvCxnSpPr>
            <a:cxnSpLocks/>
          </p:cNvCxnSpPr>
          <p:nvPr/>
        </p:nvCxnSpPr>
        <p:spPr>
          <a:xfrm flipH="1">
            <a:off x="7708106" y="7343775"/>
            <a:ext cx="614362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90C446B-DE4D-E21B-79C4-2EF3B959886C}"/>
              </a:ext>
            </a:extLst>
          </p:cNvPr>
          <p:cNvCxnSpPr>
            <a:cxnSpLocks/>
          </p:cNvCxnSpPr>
          <p:nvPr/>
        </p:nvCxnSpPr>
        <p:spPr>
          <a:xfrm flipH="1">
            <a:off x="5134569" y="7343775"/>
            <a:ext cx="1123356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FCF1990-3997-FEF6-9F20-D697E208ECFB}"/>
              </a:ext>
            </a:extLst>
          </p:cNvPr>
          <p:cNvCxnSpPr>
            <a:cxnSpLocks/>
          </p:cNvCxnSpPr>
          <p:nvPr/>
        </p:nvCxnSpPr>
        <p:spPr>
          <a:xfrm flipV="1">
            <a:off x="7593151" y="6149262"/>
            <a:ext cx="700742" cy="3413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F720475-B379-9A63-13FB-FB7845F96EB3}"/>
              </a:ext>
            </a:extLst>
          </p:cNvPr>
          <p:cNvCxnSpPr>
            <a:cxnSpLocks/>
          </p:cNvCxnSpPr>
          <p:nvPr/>
        </p:nvCxnSpPr>
        <p:spPr>
          <a:xfrm flipV="1">
            <a:off x="5149748" y="6124432"/>
            <a:ext cx="1108177" cy="395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7A4A1F3-B309-8848-95AA-4843479C04E2}"/>
              </a:ext>
            </a:extLst>
          </p:cNvPr>
          <p:cNvSpPr/>
          <p:nvPr/>
        </p:nvSpPr>
        <p:spPr>
          <a:xfrm>
            <a:off x="6257925" y="5750719"/>
            <a:ext cx="1450181" cy="18002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lighttpd</a:t>
            </a:r>
            <a:endParaRPr lang="en-150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471CB25-0700-C9C9-5A83-32A99D462FAB}"/>
              </a:ext>
            </a:extLst>
          </p:cNvPr>
          <p:cNvCxnSpPr>
            <a:cxnSpLocks/>
          </p:cNvCxnSpPr>
          <p:nvPr/>
        </p:nvCxnSpPr>
        <p:spPr>
          <a:xfrm flipV="1">
            <a:off x="9244012" y="4546185"/>
            <a:ext cx="0" cy="1204534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9050CD3-6892-77AC-F876-21B06F2E98A1}"/>
              </a:ext>
            </a:extLst>
          </p:cNvPr>
          <p:cNvSpPr txBox="1"/>
          <p:nvPr/>
        </p:nvSpPr>
        <p:spPr>
          <a:xfrm>
            <a:off x="5120578" y="7340616"/>
            <a:ext cx="1256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USP </a:t>
            </a:r>
            <a:r>
              <a:rPr lang="fr-FR" dirty="0" err="1">
                <a:solidFill>
                  <a:schemeClr val="bg1"/>
                </a:solidFill>
              </a:rPr>
              <a:t>response</a:t>
            </a:r>
            <a:endParaRPr lang="en-150" dirty="0">
              <a:solidFill>
                <a:schemeClr val="bg1"/>
              </a:solidFill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45EAD5C-EE3C-23E8-BD67-BBA92E5EB536}"/>
              </a:ext>
            </a:extLst>
          </p:cNvPr>
          <p:cNvCxnSpPr>
            <a:cxnSpLocks/>
          </p:cNvCxnSpPr>
          <p:nvPr/>
        </p:nvCxnSpPr>
        <p:spPr>
          <a:xfrm>
            <a:off x="9560125" y="4548377"/>
            <a:ext cx="12501" cy="1204534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3FFF353-99ED-F9B0-7033-A34BF7DF6AB0}"/>
              </a:ext>
            </a:extLst>
          </p:cNvPr>
          <p:cNvCxnSpPr>
            <a:cxnSpLocks/>
          </p:cNvCxnSpPr>
          <p:nvPr/>
        </p:nvCxnSpPr>
        <p:spPr>
          <a:xfrm flipH="1" flipV="1">
            <a:off x="7708106" y="6288467"/>
            <a:ext cx="585787" cy="3288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5C225A8-2D56-839B-BAAE-C4764049154C}"/>
              </a:ext>
            </a:extLst>
          </p:cNvPr>
          <p:cNvCxnSpPr>
            <a:cxnSpLocks/>
          </p:cNvCxnSpPr>
          <p:nvPr/>
        </p:nvCxnSpPr>
        <p:spPr>
          <a:xfrm flipH="1">
            <a:off x="5120578" y="6251014"/>
            <a:ext cx="1133536" cy="923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942DED8-8765-FE2C-76C6-CAB634232F92}"/>
              </a:ext>
            </a:extLst>
          </p:cNvPr>
          <p:cNvCxnSpPr>
            <a:cxnSpLocks/>
          </p:cNvCxnSpPr>
          <p:nvPr/>
        </p:nvCxnSpPr>
        <p:spPr>
          <a:xfrm flipH="1">
            <a:off x="1621631" y="6922106"/>
            <a:ext cx="2077045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B6006D70-B407-835A-46A5-1BBAB186DA4C}"/>
              </a:ext>
            </a:extLst>
          </p:cNvPr>
          <p:cNvSpPr txBox="1"/>
          <p:nvPr/>
        </p:nvSpPr>
        <p:spPr>
          <a:xfrm>
            <a:off x="1870765" y="6949944"/>
            <a:ext cx="16695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On 2.4GHz, </a:t>
            </a:r>
            <a:r>
              <a:rPr lang="fr-FR" dirty="0" err="1">
                <a:solidFill>
                  <a:schemeClr val="bg1"/>
                </a:solidFill>
              </a:rPr>
              <a:t>you</a:t>
            </a:r>
            <a:r>
              <a:rPr lang="fr-FR" dirty="0">
                <a:solidFill>
                  <a:schemeClr val="bg1"/>
                </a:solidFill>
              </a:rPr>
              <a:t> are on </a:t>
            </a:r>
            <a:r>
              <a:rPr lang="fr-FR" dirty="0" err="1">
                <a:solidFill>
                  <a:schemeClr val="bg1"/>
                </a:solidFill>
              </a:rPr>
              <a:t>channel</a:t>
            </a:r>
            <a:r>
              <a:rPr lang="fr-FR" dirty="0">
                <a:solidFill>
                  <a:schemeClr val="bg1"/>
                </a:solidFill>
              </a:rPr>
              <a:t> 8, and on 5GHz …</a:t>
            </a:r>
            <a:endParaRPr lang="en-150" dirty="0">
              <a:solidFill>
                <a:schemeClr val="bg1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446C8F8-6CFA-2E76-F4F3-E654EFB0FF62}"/>
              </a:ext>
            </a:extLst>
          </p:cNvPr>
          <p:cNvCxnSpPr/>
          <p:nvPr/>
        </p:nvCxnSpPr>
        <p:spPr>
          <a:xfrm>
            <a:off x="12923044" y="5992109"/>
            <a:ext cx="928687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A6D4AC9-1576-9D04-6877-A9B551A1A9B2}"/>
              </a:ext>
            </a:extLst>
          </p:cNvPr>
          <p:cNvCxnSpPr/>
          <p:nvPr/>
        </p:nvCxnSpPr>
        <p:spPr>
          <a:xfrm>
            <a:off x="12923044" y="6208803"/>
            <a:ext cx="928687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CDC57E2-5BCE-0327-40E1-50886215A154}"/>
              </a:ext>
            </a:extLst>
          </p:cNvPr>
          <p:cNvCxnSpPr/>
          <p:nvPr/>
        </p:nvCxnSpPr>
        <p:spPr>
          <a:xfrm>
            <a:off x="12923044" y="6433037"/>
            <a:ext cx="928687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C8CE093-001E-F94E-DE12-E8991D3006D1}"/>
              </a:ext>
            </a:extLst>
          </p:cNvPr>
          <p:cNvCxnSpPr/>
          <p:nvPr/>
        </p:nvCxnSpPr>
        <p:spPr>
          <a:xfrm>
            <a:off x="12923044" y="6658841"/>
            <a:ext cx="928687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905AE73-D00C-3D0A-4E33-DADB64476B92}"/>
              </a:ext>
            </a:extLst>
          </p:cNvPr>
          <p:cNvCxnSpPr/>
          <p:nvPr/>
        </p:nvCxnSpPr>
        <p:spPr>
          <a:xfrm>
            <a:off x="12923044" y="6904037"/>
            <a:ext cx="928687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68B1662-AEE2-E9E2-842D-707CBE7606EE}"/>
              </a:ext>
            </a:extLst>
          </p:cNvPr>
          <p:cNvCxnSpPr/>
          <p:nvPr/>
        </p:nvCxnSpPr>
        <p:spPr>
          <a:xfrm>
            <a:off x="12923044" y="7113587"/>
            <a:ext cx="92868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835F910B-C100-4184-2628-8065A7721C90}"/>
              </a:ext>
            </a:extLst>
          </p:cNvPr>
          <p:cNvSpPr txBox="1"/>
          <p:nvPr/>
        </p:nvSpPr>
        <p:spPr>
          <a:xfrm>
            <a:off x="12837396" y="540689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Sequence</a:t>
            </a:r>
            <a:endParaRPr lang="en-150" dirty="0">
              <a:solidFill>
                <a:schemeClr val="bg1"/>
              </a:solidFill>
            </a:endParaRPr>
          </a:p>
        </p:txBody>
      </p:sp>
      <p:sp>
        <p:nvSpPr>
          <p:cNvPr id="90" name="Shape 0">
            <a:extLst>
              <a:ext uri="{FF2B5EF4-FFF2-40B4-BE49-F238E27FC236}">
                <a16:creationId xmlns:a16="http://schemas.microsoft.com/office/drawing/2014/main" id="{9F6EF465-483F-740D-D7CF-95F3EE874604}"/>
              </a:ext>
            </a:extLst>
          </p:cNvPr>
          <p:cNvSpPr/>
          <p:nvPr/>
        </p:nvSpPr>
        <p:spPr>
          <a:xfrm>
            <a:off x="836176" y="574834"/>
            <a:ext cx="943094" cy="290036"/>
          </a:xfrm>
          <a:prstGeom prst="roundRect">
            <a:avLst>
              <a:gd name="adj" fmla="val 6055"/>
            </a:avLst>
          </a:prstGeom>
          <a:noFill/>
          <a:ln w="7620">
            <a:solidFill>
              <a:srgbClr val="FD505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pic>
        <p:nvPicPr>
          <p:cNvPr id="91" name="Image 0" descr="preencoded.png">
            <a:extLst>
              <a:ext uri="{FF2B5EF4-FFF2-40B4-BE49-F238E27FC236}">
                <a16:creationId xmlns:a16="http://schemas.microsoft.com/office/drawing/2014/main" id="{264328D8-8A36-343B-3E2C-16F8DB451A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1545" y="661273"/>
            <a:ext cx="117038" cy="117038"/>
          </a:xfrm>
          <a:prstGeom prst="rect">
            <a:avLst/>
          </a:prstGeom>
        </p:spPr>
      </p:pic>
      <p:sp>
        <p:nvSpPr>
          <p:cNvPr id="92" name="Text 1">
            <a:extLst>
              <a:ext uri="{FF2B5EF4-FFF2-40B4-BE49-F238E27FC236}">
                <a16:creationId xmlns:a16="http://schemas.microsoft.com/office/drawing/2014/main" id="{0E9C5062-7781-2B80-53B9-957EFAE43908}"/>
              </a:ext>
            </a:extLst>
          </p:cNvPr>
          <p:cNvSpPr/>
          <p:nvPr/>
        </p:nvSpPr>
        <p:spPr>
          <a:xfrm>
            <a:off x="1107043" y="626269"/>
            <a:ext cx="576858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ROADMAP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7716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176" y="574834"/>
            <a:ext cx="943094" cy="290036"/>
          </a:xfrm>
          <a:prstGeom prst="roundRect">
            <a:avLst>
              <a:gd name="adj" fmla="val 6055"/>
            </a:avLst>
          </a:prstGeom>
          <a:noFill/>
          <a:ln w="7620">
            <a:solidFill>
              <a:srgbClr val="FD505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545" y="661273"/>
            <a:ext cx="117038" cy="117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7043" y="626269"/>
            <a:ext cx="576858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36176" y="926068"/>
            <a:ext cx="5706666" cy="430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Future: Dynamic Module Extensibility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36176" y="1414939"/>
            <a:ext cx="3448050" cy="215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Goal: Replace LuCI with Modular Architecture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36176" y="1849517"/>
            <a:ext cx="12958048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Like LuCI, allow OpenWRT packages to install their own UI modules on the fly.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836176" y="7033379"/>
            <a:ext cx="12958048" cy="621744"/>
          </a:xfrm>
          <a:prstGeom prst="roundRect">
            <a:avLst>
              <a:gd name="adj" fmla="val 3531"/>
            </a:avLst>
          </a:prstGeom>
          <a:solidFill>
            <a:srgbClr val="4C0107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04" y="7232928"/>
            <a:ext cx="182880" cy="14632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311712" y="7216259"/>
            <a:ext cx="12336185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Key insight:</a:t>
            </a:r>
            <a:r>
              <a:rPr lang="en-US" sz="11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Each module runs usp-codegen at its own build time — no TR-181 burden for module developers, no rebuild of main UI required.</a:t>
            </a:r>
            <a:endParaRPr lang="en-US" sz="115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03A4B5D-CE7F-4D96-7925-DE8BF8B6C5B6}"/>
              </a:ext>
            </a:extLst>
          </p:cNvPr>
          <p:cNvSpPr/>
          <p:nvPr/>
        </p:nvSpPr>
        <p:spPr>
          <a:xfrm>
            <a:off x="2471738" y="2271714"/>
            <a:ext cx="9472612" cy="17645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Main Flutter UI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en-1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B5602D-B879-F83D-DEFB-8771A7144718}"/>
              </a:ext>
            </a:extLst>
          </p:cNvPr>
          <p:cNvSpPr/>
          <p:nvPr/>
        </p:nvSpPr>
        <p:spPr>
          <a:xfrm>
            <a:off x="3203138" y="2865745"/>
            <a:ext cx="3729039" cy="10184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Core</a:t>
            </a:r>
            <a:r>
              <a:rPr lang="fr-FR" dirty="0"/>
              <a:t> </a:t>
            </a:r>
            <a:r>
              <a:rPr lang="fr-FR" dirty="0" err="1"/>
              <a:t>features</a:t>
            </a:r>
            <a:endParaRPr lang="fr-FR" dirty="0"/>
          </a:p>
          <a:p>
            <a:pPr algn="ctr"/>
            <a:r>
              <a:rPr lang="fr-FR" dirty="0"/>
              <a:t>(</a:t>
            </a:r>
            <a:r>
              <a:rPr lang="fr-FR" dirty="0" err="1"/>
              <a:t>pre</a:t>
            </a:r>
            <a:r>
              <a:rPr lang="fr-FR" dirty="0"/>
              <a:t> </a:t>
            </a:r>
            <a:r>
              <a:rPr lang="fr-FR" dirty="0" err="1"/>
              <a:t>built</a:t>
            </a:r>
            <a:r>
              <a:rPr lang="fr-FR" dirty="0"/>
              <a:t> APIs)</a:t>
            </a:r>
            <a:endParaRPr lang="en-1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E76633-6EF3-A7F4-F733-E85CAF877F2B}"/>
              </a:ext>
            </a:extLst>
          </p:cNvPr>
          <p:cNvSpPr/>
          <p:nvPr/>
        </p:nvSpPr>
        <p:spPr>
          <a:xfrm>
            <a:off x="7693819" y="2865744"/>
            <a:ext cx="3871912" cy="101840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Module Frame / App Launcher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Reads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a local </a:t>
            </a:r>
            <a:r>
              <a:rPr lang="fr-FR" dirty="0" err="1"/>
              <a:t>Db</a:t>
            </a:r>
            <a:r>
              <a:rPr lang="fr-FR" dirty="0"/>
              <a:t> (can </a:t>
            </a:r>
            <a:r>
              <a:rPr lang="fr-FR" dirty="0" err="1"/>
              <a:t>be</a:t>
            </a:r>
            <a:r>
              <a:rPr lang="fr-FR" dirty="0"/>
              <a:t> a file)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Embeds</a:t>
            </a:r>
            <a:r>
              <a:rPr lang="fr-FR" dirty="0"/>
              <a:t> </a:t>
            </a:r>
            <a:r>
              <a:rPr lang="fr-FR" dirty="0" err="1"/>
              <a:t>dynamic</a:t>
            </a:r>
            <a:r>
              <a:rPr lang="fr-FR" dirty="0"/>
              <a:t> modules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7CC60D6-6AFC-945B-C92D-C7EB146C1785}"/>
              </a:ext>
            </a:extLst>
          </p:cNvPr>
          <p:cNvSpPr/>
          <p:nvPr/>
        </p:nvSpPr>
        <p:spPr>
          <a:xfrm>
            <a:off x="3207544" y="4577537"/>
            <a:ext cx="1457325" cy="95726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Module A</a:t>
            </a:r>
          </a:p>
          <a:p>
            <a:pPr algn="ctr"/>
            <a:r>
              <a:rPr lang="fr-FR" dirty="0"/>
              <a:t>(</a:t>
            </a:r>
            <a:r>
              <a:rPr lang="fr-FR" dirty="0" err="1"/>
              <a:t>opkg</a:t>
            </a:r>
            <a:r>
              <a:rPr lang="fr-FR" dirty="0"/>
              <a:t>)</a:t>
            </a:r>
            <a:endParaRPr lang="en-15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5201FA-2C5C-B34C-1948-19A4123609AE}"/>
              </a:ext>
            </a:extLst>
          </p:cNvPr>
          <p:cNvSpPr/>
          <p:nvPr/>
        </p:nvSpPr>
        <p:spPr>
          <a:xfrm>
            <a:off x="6674644" y="4577537"/>
            <a:ext cx="1457325" cy="95726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Module B</a:t>
            </a:r>
          </a:p>
          <a:p>
            <a:pPr algn="ctr"/>
            <a:r>
              <a:rPr lang="fr-FR" dirty="0"/>
              <a:t>(</a:t>
            </a:r>
            <a:r>
              <a:rPr lang="fr-FR" dirty="0" err="1"/>
              <a:t>opkg</a:t>
            </a:r>
            <a:r>
              <a:rPr lang="fr-FR" dirty="0"/>
              <a:t>)</a:t>
            </a:r>
            <a:endParaRPr lang="en-15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751D91C-B5C1-15E6-EC29-4010A665119F}"/>
              </a:ext>
            </a:extLst>
          </p:cNvPr>
          <p:cNvSpPr/>
          <p:nvPr/>
        </p:nvSpPr>
        <p:spPr>
          <a:xfrm>
            <a:off x="9922671" y="4577537"/>
            <a:ext cx="1457325" cy="95726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Module C</a:t>
            </a:r>
          </a:p>
          <a:p>
            <a:pPr algn="ctr"/>
            <a:r>
              <a:rPr lang="fr-FR" dirty="0"/>
              <a:t>(</a:t>
            </a:r>
            <a:r>
              <a:rPr lang="fr-FR" dirty="0" err="1"/>
              <a:t>opkg</a:t>
            </a:r>
            <a:r>
              <a:rPr lang="fr-FR" dirty="0"/>
              <a:t>)</a:t>
            </a:r>
            <a:endParaRPr lang="en-150" dirty="0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62D910E-0FF7-0673-A37C-E2064A4CB47C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 rot="5400000">
            <a:off x="6436295" y="1384057"/>
            <a:ext cx="693392" cy="5693568"/>
          </a:xfrm>
          <a:prstGeom prst="bentConnector3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22E4F8F2-2FAD-32ED-4107-565BE09EB148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 rot="5400000">
            <a:off x="8169845" y="3117607"/>
            <a:ext cx="693392" cy="2226468"/>
          </a:xfrm>
          <a:prstGeom prst="bentConnector3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EA825D85-2BAB-BDEB-FEB8-04BB055A06CA}"/>
              </a:ext>
            </a:extLst>
          </p:cNvPr>
          <p:cNvCxnSpPr>
            <a:cxnSpLocks/>
            <a:stCxn id="40" idx="2"/>
            <a:endCxn id="43" idx="0"/>
          </p:cNvCxnSpPr>
          <p:nvPr/>
        </p:nvCxnSpPr>
        <p:spPr>
          <a:xfrm rot="16200000" flipH="1">
            <a:off x="9793858" y="3720061"/>
            <a:ext cx="693392" cy="1021559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5B160680-E872-B679-0988-C733D25EB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316617"/>
              </p:ext>
            </p:extLst>
          </p:nvPr>
        </p:nvGraphicFramePr>
        <p:xfrm>
          <a:off x="2055376" y="5759259"/>
          <a:ext cx="12017812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945124">
                  <a:extLst>
                    <a:ext uri="{9D8B030D-6E8A-4147-A177-3AD203B41FA5}">
                      <a16:colId xmlns:a16="http://schemas.microsoft.com/office/drawing/2014/main" val="2892111649"/>
                    </a:ext>
                  </a:extLst>
                </a:gridCol>
                <a:gridCol w="10072688">
                  <a:extLst>
                    <a:ext uri="{9D8B030D-6E8A-4147-A177-3AD203B41FA5}">
                      <a16:colId xmlns:a16="http://schemas.microsoft.com/office/drawing/2014/main" val="1363917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Build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 time</a:t>
                      </a:r>
                      <a:endParaRPr lang="en-15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Module </a:t>
                      </a:r>
                      <a:r>
                        <a:rPr lang="fr-F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developer</a:t>
                      </a:r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creates</a:t>
                      </a:r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YAML </a:t>
                      </a:r>
                      <a:r>
                        <a:rPr lang="fr-F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definitions</a:t>
                      </a:r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fr-F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usp-codegen</a:t>
                      </a:r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fr-F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typed</a:t>
                      </a:r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602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Package</a:t>
                      </a:r>
                      <a:endParaRPr lang="fr-FR" sz="18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Module web app + </a:t>
                      </a:r>
                      <a:r>
                        <a:rPr lang="fr-F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postinst</a:t>
                      </a:r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script (</a:t>
                      </a:r>
                      <a:r>
                        <a:rPr lang="fr-F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registers</a:t>
                      </a:r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`</a:t>
                      </a:r>
                      <a:r>
                        <a:rPr lang="fr-F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app_db.json</a:t>
                      </a:r>
                      <a:r>
                        <a:rPr lang="fr-F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121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en-GB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opkg</a:t>
                      </a:r>
                      <a:r>
                        <a:rPr lang="en-GB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install module-x` → module available in UI immediately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03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646" y="542211"/>
            <a:ext cx="819983" cy="240268"/>
          </a:xfrm>
          <a:prstGeom prst="roundRect">
            <a:avLst>
              <a:gd name="adj" fmla="val 6385"/>
            </a:avLst>
          </a:prstGeom>
          <a:solidFill>
            <a:srgbClr val="4C0107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322" y="611148"/>
            <a:ext cx="102275" cy="102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6675" y="580549"/>
            <a:ext cx="513278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SUMMARY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86646" y="839510"/>
            <a:ext cx="3008114" cy="37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Takeaways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786646" y="1407200"/>
            <a:ext cx="13057108" cy="1253490"/>
          </a:xfrm>
          <a:prstGeom prst="roundRect">
            <a:avLst>
              <a:gd name="adj" fmla="val 1530"/>
            </a:avLst>
          </a:prstGeom>
          <a:solidFill>
            <a:srgbClr val="100C35"/>
          </a:solidFill>
          <a:ln w="1524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7" name="Shape 4"/>
          <p:cNvSpPr/>
          <p:nvPr/>
        </p:nvSpPr>
        <p:spPr>
          <a:xfrm>
            <a:off x="801886" y="1422440"/>
            <a:ext cx="511373" cy="1223010"/>
          </a:xfrm>
          <a:prstGeom prst="roundRect">
            <a:avLst>
              <a:gd name="adj" fmla="val 174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68" y="1937980"/>
            <a:ext cx="191691" cy="1916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1013" y="1550194"/>
            <a:ext cx="1503998" cy="187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Open Source Friendly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441013" y="1814751"/>
            <a:ext cx="1225974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UI is replaceable (Flutter, TypeScript, or future frameworks)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441013" y="2063948"/>
            <a:ext cx="1225974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Single Rust client serves all platforms (native + WASM)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441013" y="2313146"/>
            <a:ext cx="1225974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YAML definitions are language-agnostic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86646" y="2788444"/>
            <a:ext cx="13057108" cy="1253490"/>
          </a:xfrm>
          <a:prstGeom prst="roundRect">
            <a:avLst>
              <a:gd name="adj" fmla="val 1530"/>
            </a:avLst>
          </a:prstGeom>
          <a:solidFill>
            <a:srgbClr val="100C35"/>
          </a:solidFill>
          <a:ln w="1524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4" name="Shape 10"/>
          <p:cNvSpPr/>
          <p:nvPr/>
        </p:nvSpPr>
        <p:spPr>
          <a:xfrm>
            <a:off x="801886" y="2803684"/>
            <a:ext cx="511373" cy="1223010"/>
          </a:xfrm>
          <a:prstGeom prst="roundRect">
            <a:avLst>
              <a:gd name="adj" fmla="val 174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1668" y="3319224"/>
            <a:ext cx="191691" cy="1916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41013" y="2931438"/>
            <a:ext cx="1503998" cy="187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Standards-Based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441013" y="3195995"/>
            <a:ext cx="1225974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Pure USP (TR-369) on the wire — vendor extensions supported when needed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441013" y="3445193"/>
            <a:ext cx="1225974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OBUSPA (or any USP agent) is the source of truth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441013" y="3694390"/>
            <a:ext cx="1225974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WebSocket MTP compliant for turbo channel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86646" y="4169688"/>
            <a:ext cx="13057108" cy="1004292"/>
          </a:xfrm>
          <a:prstGeom prst="roundRect">
            <a:avLst>
              <a:gd name="adj" fmla="val 1910"/>
            </a:avLst>
          </a:prstGeom>
          <a:solidFill>
            <a:srgbClr val="100C35"/>
          </a:solidFill>
          <a:ln w="1524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1" name="Shape 16"/>
          <p:cNvSpPr/>
          <p:nvPr/>
        </p:nvSpPr>
        <p:spPr>
          <a:xfrm>
            <a:off x="801886" y="4184928"/>
            <a:ext cx="511373" cy="973812"/>
          </a:xfrm>
          <a:prstGeom prst="roundRect">
            <a:avLst>
              <a:gd name="adj" fmla="val 174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1668" y="4575929"/>
            <a:ext cx="191691" cy="1916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41013" y="4312682"/>
            <a:ext cx="1503998" cy="187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OpenWRT-Optimized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441013" y="4577239"/>
            <a:ext cx="1225974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Minimal memory footprint (~50KB daemons)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441013" y="4826437"/>
            <a:ext cx="1225974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UCI configuration files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86646" y="5301734"/>
            <a:ext cx="13057108" cy="1253490"/>
          </a:xfrm>
          <a:prstGeom prst="roundRect">
            <a:avLst>
              <a:gd name="adj" fmla="val 1530"/>
            </a:avLst>
          </a:prstGeom>
          <a:solidFill>
            <a:srgbClr val="100C35"/>
          </a:solidFill>
          <a:ln w="1524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7" name="Shape 21"/>
          <p:cNvSpPr/>
          <p:nvPr/>
        </p:nvSpPr>
        <p:spPr>
          <a:xfrm>
            <a:off x="801886" y="5316974"/>
            <a:ext cx="511373" cy="1223010"/>
          </a:xfrm>
          <a:prstGeom prst="roundRect">
            <a:avLst>
              <a:gd name="adj" fmla="val 174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1668" y="5832515"/>
            <a:ext cx="191691" cy="19169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41013" y="5444728"/>
            <a:ext cx="1503998" cy="187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Developer Experience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441013" y="5709285"/>
            <a:ext cx="1225974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Hide TR-181 complexity behind typed APIs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441013" y="5958483"/>
            <a:ext cx="1225974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Code generation from YAML definitions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441013" y="6207681"/>
            <a:ext cx="1225974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Multi-tab/multi-device handled transparently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86646" y="6682978"/>
            <a:ext cx="13057108" cy="1253490"/>
          </a:xfrm>
          <a:prstGeom prst="roundRect">
            <a:avLst>
              <a:gd name="adj" fmla="val 1910"/>
            </a:avLst>
          </a:prstGeom>
          <a:solidFill>
            <a:srgbClr val="100C35"/>
          </a:solidFill>
          <a:ln w="15240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4" name="Shape 27"/>
          <p:cNvSpPr/>
          <p:nvPr/>
        </p:nvSpPr>
        <p:spPr>
          <a:xfrm>
            <a:off x="798195" y="6682978"/>
            <a:ext cx="511373" cy="1253490"/>
          </a:xfrm>
          <a:prstGeom prst="roundRect">
            <a:avLst>
              <a:gd name="adj" fmla="val 174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1668" y="7215067"/>
            <a:ext cx="191691" cy="191691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441013" y="6825972"/>
            <a:ext cx="1503998" cy="187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Future-Ready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1441013" y="7090529"/>
            <a:ext cx="1225974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Architecture supports dynamic module loading (LuCI replacement)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1441013" y="7339727"/>
            <a:ext cx="1225974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Modules built independently with their own YAML definitions</a:t>
            </a:r>
            <a:endParaRPr lang="en-US" sz="1000" dirty="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5E1521CB-1C75-501E-2419-30CD2F455320}"/>
              </a:ext>
            </a:extLst>
          </p:cNvPr>
          <p:cNvSpPr/>
          <p:nvPr/>
        </p:nvSpPr>
        <p:spPr>
          <a:xfrm>
            <a:off x="1441012" y="7585114"/>
            <a:ext cx="1225974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AI ready for dev and users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316950"/>
            <a:ext cx="1314331" cy="408742"/>
          </a:xfrm>
          <a:prstGeom prst="roundRect">
            <a:avLst>
              <a:gd name="adj" fmla="val 6149"/>
            </a:avLst>
          </a:prstGeom>
          <a:noFill/>
          <a:ln w="7620">
            <a:solidFill>
              <a:srgbClr val="FD505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970955" y="1387316"/>
            <a:ext cx="1047869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37724" y="1809393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Appendix: References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837724" y="2948821"/>
            <a:ext cx="294679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Standards &amp; Specifications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37724" y="3466267"/>
            <a:ext cx="62219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TR-369:</a:t>
            </a: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Broadband Forum USP specification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7724" y="3874532"/>
            <a:ext cx="62219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TR-181:</a:t>
            </a: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Device:2 Data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7724" y="4282797"/>
            <a:ext cx="62219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OBUSPA:</a:t>
            </a: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</a:t>
            </a:r>
            <a:r>
              <a:rPr lang="en-US" sz="1600" u="sng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https://github.com/BroadbandForum/obuspa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7724" y="4691063"/>
            <a:ext cx="62219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Protobuf:</a:t>
            </a: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USP wire encoding format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78328" y="2948821"/>
            <a:ext cx="274498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Specification Documents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78328" y="3466267"/>
            <a:ext cx="62219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router-side-spec.md — Full router architecture details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78328" y="3874532"/>
            <a:ext cx="62219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ui-side-spec.md — Full UI architecture details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78328" y="4282797"/>
            <a:ext cx="622196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components-isolation.md — Package boundaries and interfaces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7724" y="5413415"/>
            <a:ext cx="6801207" cy="850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Thank You</a:t>
            </a:r>
            <a:endParaRPr lang="en-US" sz="5350" dirty="0"/>
          </a:p>
        </p:txBody>
      </p:sp>
      <p:sp>
        <p:nvSpPr>
          <p:cNvPr id="15" name="Text 13"/>
          <p:cNvSpPr/>
          <p:nvPr/>
        </p:nvSpPr>
        <p:spPr>
          <a:xfrm>
            <a:off x="837724" y="6577608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1713</Words>
  <Application>Microsoft Office PowerPoint</Application>
  <PresentationFormat>Custom</PresentationFormat>
  <Paragraphs>355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Consolas Light</vt:lpstr>
      <vt:lpstr>Kanit</vt:lpstr>
      <vt:lpstr>Kanit Light</vt:lpstr>
      <vt:lpstr>Martel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Olivier Faust</cp:lastModifiedBy>
  <cp:revision>12</cp:revision>
  <dcterms:created xsi:type="dcterms:W3CDTF">2026-01-14T13:19:00Z</dcterms:created>
  <dcterms:modified xsi:type="dcterms:W3CDTF">2026-01-15T14:55:01Z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2026-01-14T16:03:17Z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ffc6db12-5428-4caf-b237-b8735eda8c6e</vt:lpwstr>
  </property>
  <property fmtid="{D5CDD505-2E9C-101B-9397-08002B2CF9AE}" pid="7" name="MSIP_Label_defa4170-0d19-0005-0004-bc88714345d2_ActionId">
    <vt:lpwstr>9d852a3c-18d8-4abf-8f9a-ed99cd8b88ce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